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6" r:id="rId7"/>
    <p:sldId id="261" r:id="rId8"/>
    <p:sldId id="262" r:id="rId9"/>
    <p:sldId id="264" r:id="rId10"/>
    <p:sldId id="265" r:id="rId11"/>
  </p:sldIdLst>
  <p:sldSz cx="14630400" cy="8229600"/>
  <p:notesSz cx="8229600" cy="14630400"/>
  <p:embeddedFontLst>
    <p:embeddedFont>
      <p:font typeface="Montserrat Bold" panose="020B0604020202020204" charset="0"/>
      <p:bold r:id="rId13"/>
    </p:embeddedFont>
    <p:embeddedFont>
      <p:font typeface="Montserrat Light" panose="00000400000000000000" pitchFamily="2" charset="0"/>
      <p:regular r:id="rId14"/>
    </p:embeddedFont>
    <p:embeddedFont>
      <p:font typeface="Source Sans 3" panose="020B0604020202020204" charset="0"/>
      <p:regular r:id="rId15"/>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28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4717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83720-721C-08A1-EFB1-259982301F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7B71BB-1B5F-5C8E-4D2D-90BD4DE7A8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5A2E38-AD28-CB79-15DD-1B24C5E266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B237AB-49E9-449B-4A7D-690171F51CB4}"/>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9120076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txBody>
          <a:bodyPr/>
          <a:lstStyle/>
          <a:p>
            <a:endParaRPr lang="fr-FR"/>
          </a:p>
        </p:txBody>
      </p:sp>
      <p:sp>
        <p:nvSpPr>
          <p:cNvPr id="3" name="Shape 1"/>
          <p:cNvSpPr/>
          <p:nvPr/>
        </p:nvSpPr>
        <p:spPr>
          <a:xfrm>
            <a:off x="0" y="0"/>
            <a:ext cx="14630400" cy="8229600"/>
          </a:xfrm>
          <a:prstGeom prst="rect">
            <a:avLst/>
          </a:prstGeom>
          <a:solidFill>
            <a:srgbClr val="FFFFFF"/>
          </a:solidFill>
          <a:ln/>
        </p:spPr>
        <p:txBody>
          <a:bodyPr/>
          <a:lstStyle/>
          <a:p>
            <a:endParaRPr lang="fr-F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18" Type="http://schemas.openxmlformats.org/officeDocument/2006/relationships/image" Target="../media/image24.sv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17" Type="http://schemas.openxmlformats.org/officeDocument/2006/relationships/image" Target="../media/image23.png"/><Relationship Id="rId2" Type="http://schemas.openxmlformats.org/officeDocument/2006/relationships/notesSlide" Target="../notesSlides/notesSlide4.xml"/><Relationship Id="rId16" Type="http://schemas.openxmlformats.org/officeDocument/2006/relationships/image" Target="../media/image22.svg"/><Relationship Id="rId1" Type="http://schemas.openxmlformats.org/officeDocument/2006/relationships/slideLayout" Target="../slideLayouts/slideLayout5.xml"/><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20.svg"/></Relationships>
</file>

<file path=ppt/slides/_rels/slide5.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28.sv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slides/_rels/slide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sv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39.sv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 Id="rId14" Type="http://schemas.openxmlformats.org/officeDocument/2006/relationships/image" Target="../media/image47.svg"/></Relationships>
</file>

<file path=ppt/slides/_rels/slide9.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3798" y="2893933"/>
            <a:ext cx="7416403" cy="1227058"/>
          </a:xfrm>
          <a:prstGeom prst="rect">
            <a:avLst/>
          </a:prstGeom>
          <a:noFill/>
          <a:ln/>
        </p:spPr>
        <p:txBody>
          <a:bodyPr wrap="square" lIns="0" tIns="0" rIns="0" bIns="0" rtlCol="0" anchor="t"/>
          <a:lstStyle/>
          <a:p>
            <a:pPr marL="0" indent="0" algn="l">
              <a:lnSpc>
                <a:spcPts val="4800"/>
              </a:lnSpc>
              <a:buNone/>
            </a:pPr>
            <a:r>
              <a:rPr lang="en-US" sz="3850" b="1" dirty="0">
                <a:solidFill>
                  <a:srgbClr val="000000"/>
                </a:solidFill>
                <a:latin typeface="Montserrat Bold" pitchFamily="34" charset="0"/>
                <a:ea typeface="Montserrat Bold" pitchFamily="34" charset="-122"/>
                <a:cs typeface="Montserrat Bold" pitchFamily="34" charset="-120"/>
              </a:rPr>
              <a:t>Architecture Microservices avec Spring Cloud et Next.js</a:t>
            </a:r>
            <a:endParaRPr lang="en-US" sz="3850" dirty="0"/>
          </a:p>
        </p:txBody>
      </p:sp>
      <p:sp>
        <p:nvSpPr>
          <p:cNvPr id="4" name="Text 1"/>
          <p:cNvSpPr/>
          <p:nvPr/>
        </p:nvSpPr>
        <p:spPr>
          <a:xfrm>
            <a:off x="863798" y="4444841"/>
            <a:ext cx="7416403" cy="323969"/>
          </a:xfrm>
          <a:prstGeom prst="rect">
            <a:avLst/>
          </a:prstGeom>
          <a:noFill/>
          <a:ln/>
        </p:spPr>
        <p:txBody>
          <a:bodyPr wrap="none" lIns="0" tIns="0" rIns="0" bIns="0" rtlCol="0" anchor="t"/>
          <a:lstStyle/>
          <a:p>
            <a:pPr marL="0" indent="0" algn="l">
              <a:lnSpc>
                <a:spcPts val="2550"/>
              </a:lnSpc>
              <a:buNone/>
            </a:pPr>
            <a:r>
              <a:rPr lang="en-US" sz="1700" b="1" dirty="0">
                <a:solidFill>
                  <a:srgbClr val="3D3838"/>
                </a:solidFill>
                <a:latin typeface="Source Sans 3" pitchFamily="34" charset="0"/>
                <a:ea typeface="Source Sans 3" pitchFamily="34" charset="-122"/>
                <a:cs typeface="Source Sans 3" pitchFamily="34" charset="-120"/>
              </a:rPr>
              <a:t>Projet J2EE</a:t>
            </a:r>
            <a:r>
              <a:rPr lang="en-US" sz="1700" dirty="0">
                <a:solidFill>
                  <a:srgbClr val="3D3838"/>
                </a:solidFill>
                <a:latin typeface="Source Sans 3" pitchFamily="34" charset="0"/>
                <a:ea typeface="Source Sans 3" pitchFamily="34" charset="-122"/>
                <a:cs typeface="Source Sans 3" pitchFamily="34" charset="-120"/>
              </a:rPr>
              <a:t> par Mohammed EL KHAYATI et Mouad MOUDID</a:t>
            </a:r>
            <a:endParaRPr lang="en-US" sz="1700" dirty="0"/>
          </a:p>
        </p:txBody>
      </p:sp>
      <p:sp>
        <p:nvSpPr>
          <p:cNvPr id="5" name="Text 2"/>
          <p:cNvSpPr/>
          <p:nvPr/>
        </p:nvSpPr>
        <p:spPr>
          <a:xfrm>
            <a:off x="863798" y="5011698"/>
            <a:ext cx="7416403" cy="323969"/>
          </a:xfrm>
          <a:prstGeom prst="rect">
            <a:avLst/>
          </a:prstGeom>
          <a:noFill/>
          <a:ln/>
        </p:spPr>
        <p:txBody>
          <a:bodyPr wrap="non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Filière 5IIR-11 • Année universitaire 2025-2026</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3798" y="595432"/>
            <a:ext cx="11056501" cy="521494"/>
          </a:xfrm>
          <a:prstGeom prst="rect">
            <a:avLst/>
          </a:prstGeom>
          <a:noFill/>
          <a:ln/>
        </p:spPr>
        <p:txBody>
          <a:bodyPr wrap="none" lIns="0" tIns="0" rIns="0" bIns="0" rtlCol="0" anchor="t"/>
          <a:lstStyle/>
          <a:p>
            <a:pPr marL="0" indent="0" algn="l">
              <a:lnSpc>
                <a:spcPts val="4100"/>
              </a:lnSpc>
              <a:buNone/>
            </a:pPr>
            <a:r>
              <a:rPr lang="en-US" sz="3250" b="1" dirty="0">
                <a:solidFill>
                  <a:srgbClr val="000000"/>
                </a:solidFill>
                <a:latin typeface="Montserrat Bold" pitchFamily="34" charset="0"/>
                <a:ea typeface="Montserrat Bold" pitchFamily="34" charset="-122"/>
                <a:cs typeface="Montserrat Bold" pitchFamily="34" charset="-120"/>
              </a:rPr>
              <a:t>Une Architecture Distribuée Moderne et Résiliente</a:t>
            </a:r>
            <a:endParaRPr lang="en-US" sz="3250" dirty="0"/>
          </a:p>
        </p:txBody>
      </p:sp>
      <p:sp>
        <p:nvSpPr>
          <p:cNvPr id="3" name="Text 1"/>
          <p:cNvSpPr/>
          <p:nvPr/>
        </p:nvSpPr>
        <p:spPr>
          <a:xfrm>
            <a:off x="863798" y="1557338"/>
            <a:ext cx="6227445" cy="1101566"/>
          </a:xfrm>
          <a:prstGeom prst="rect">
            <a:avLst/>
          </a:prstGeom>
          <a:noFill/>
          <a:ln/>
        </p:spPr>
        <p:txBody>
          <a:bodyPr wrap="square" lIns="0" tIns="0" rIns="0" bIns="0" rtlCol="0" anchor="t"/>
          <a:lstStyle/>
          <a:p>
            <a:pPr marL="0" indent="0" algn="l">
              <a:lnSpc>
                <a:spcPts val="2150"/>
              </a:lnSpc>
              <a:buNone/>
            </a:pPr>
            <a:r>
              <a:rPr lang="en-US" sz="1400" dirty="0">
                <a:solidFill>
                  <a:srgbClr val="3D3838"/>
                </a:solidFill>
                <a:latin typeface="Source Sans 3" pitchFamily="34" charset="0"/>
                <a:ea typeface="Source Sans 3" pitchFamily="34" charset="-122"/>
                <a:cs typeface="Source Sans 3" pitchFamily="34" charset="-120"/>
              </a:rPr>
              <a:t>Ce projet implémente une architecture microservices complète pour la gestion de produits et de commandes, démontrant les concepts clés des architectures distribuées modernes. L'objectif est de construire une plateforme scalable, résiliente et maintenable qui respecte les standards industriels actuels.</a:t>
            </a:r>
            <a:endParaRPr lang="en-US" sz="1400" dirty="0"/>
          </a:p>
        </p:txBody>
      </p:sp>
      <p:sp>
        <p:nvSpPr>
          <p:cNvPr id="4" name="Text 2"/>
          <p:cNvSpPr/>
          <p:nvPr/>
        </p:nvSpPr>
        <p:spPr>
          <a:xfrm>
            <a:off x="863798" y="2824043"/>
            <a:ext cx="6227445" cy="826175"/>
          </a:xfrm>
          <a:prstGeom prst="rect">
            <a:avLst/>
          </a:prstGeom>
          <a:noFill/>
          <a:ln/>
        </p:spPr>
        <p:txBody>
          <a:bodyPr wrap="square" lIns="0" tIns="0" rIns="0" bIns="0" rtlCol="0" anchor="t"/>
          <a:lstStyle/>
          <a:p>
            <a:pPr marL="0" indent="0" algn="l">
              <a:lnSpc>
                <a:spcPts val="2150"/>
              </a:lnSpc>
              <a:buNone/>
            </a:pPr>
            <a:r>
              <a:rPr lang="en-US" sz="1400" dirty="0">
                <a:solidFill>
                  <a:srgbClr val="3D3838"/>
                </a:solidFill>
                <a:latin typeface="Source Sans 3" pitchFamily="34" charset="0"/>
                <a:ea typeface="Source Sans 3" pitchFamily="34" charset="-122"/>
                <a:cs typeface="Source Sans 3" pitchFamily="34" charset="-120"/>
              </a:rPr>
              <a:t>La solution combine le meilleur de Spring Cloud pour le backend avec Next.js pour offrir une interface utilisateur moderne et intuitive. Chaque composant a été soigneusement conçu pour assurer la robustesse et la performance du système.</a:t>
            </a:r>
            <a:endParaRPr lang="en-US" sz="1400" dirty="0"/>
          </a:p>
        </p:txBody>
      </p:sp>
      <p:sp>
        <p:nvSpPr>
          <p:cNvPr id="5" name="Shape 3"/>
          <p:cNvSpPr/>
          <p:nvPr/>
        </p:nvSpPr>
        <p:spPr>
          <a:xfrm>
            <a:off x="7546777" y="1598652"/>
            <a:ext cx="6227445" cy="1820704"/>
          </a:xfrm>
          <a:prstGeom prst="roundRect">
            <a:avLst>
              <a:gd name="adj" fmla="val 1512"/>
            </a:avLst>
          </a:prstGeom>
          <a:solidFill>
            <a:srgbClr val="F2EEEE"/>
          </a:solidFill>
          <a:ln/>
        </p:spPr>
        <p:txBody>
          <a:bodyPr/>
          <a:lstStyle/>
          <a:p>
            <a:endParaRPr lang="fr-FR"/>
          </a:p>
        </p:txBody>
      </p:sp>
      <p:sp>
        <p:nvSpPr>
          <p:cNvPr id="6" name="Shape 4"/>
          <p:cNvSpPr/>
          <p:nvPr/>
        </p:nvSpPr>
        <p:spPr>
          <a:xfrm>
            <a:off x="7730252" y="1782128"/>
            <a:ext cx="550664" cy="550664"/>
          </a:xfrm>
          <a:prstGeom prst="roundRect">
            <a:avLst>
              <a:gd name="adj" fmla="val 16603747"/>
            </a:avLst>
          </a:prstGeom>
          <a:solidFill>
            <a:srgbClr val="2D2E34"/>
          </a:solidFill>
          <a:ln/>
        </p:spPr>
        <p:txBody>
          <a:bodyPr/>
          <a:lstStyle/>
          <a:p>
            <a:endParaRPr lang="fr-FR"/>
          </a:p>
        </p:txBody>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81699" y="1933575"/>
            <a:ext cx="247769" cy="247769"/>
          </a:xfrm>
          <a:prstGeom prst="rect">
            <a:avLst/>
          </a:prstGeom>
        </p:spPr>
      </p:pic>
      <p:sp>
        <p:nvSpPr>
          <p:cNvPr id="8" name="Text 5"/>
          <p:cNvSpPr/>
          <p:nvPr/>
        </p:nvSpPr>
        <p:spPr>
          <a:xfrm>
            <a:off x="7730252" y="2516267"/>
            <a:ext cx="2762250" cy="260747"/>
          </a:xfrm>
          <a:prstGeom prst="rect">
            <a:avLst/>
          </a:prstGeom>
          <a:noFill/>
          <a:ln/>
        </p:spPr>
        <p:txBody>
          <a:bodyPr wrap="none" lIns="0" tIns="0" rIns="0" bIns="0" rtlCol="0" anchor="t"/>
          <a:lstStyle/>
          <a:p>
            <a:pPr marL="0" indent="0" algn="l">
              <a:lnSpc>
                <a:spcPts val="2050"/>
              </a:lnSpc>
              <a:buNone/>
            </a:pPr>
            <a:r>
              <a:rPr lang="en-US" sz="1600" b="1" dirty="0">
                <a:solidFill>
                  <a:srgbClr val="3D3838"/>
                </a:solidFill>
                <a:latin typeface="Montserrat Bold" pitchFamily="34" charset="0"/>
                <a:ea typeface="Montserrat Bold" pitchFamily="34" charset="-122"/>
                <a:cs typeface="Montserrat Bold" pitchFamily="34" charset="-120"/>
              </a:rPr>
              <a:t>Configuration centralisée</a:t>
            </a:r>
            <a:endParaRPr lang="en-US" sz="1600" dirty="0"/>
          </a:p>
        </p:txBody>
      </p:sp>
      <p:sp>
        <p:nvSpPr>
          <p:cNvPr id="9" name="Text 6"/>
          <p:cNvSpPr/>
          <p:nvPr/>
        </p:nvSpPr>
        <p:spPr>
          <a:xfrm>
            <a:off x="7730252" y="2960489"/>
            <a:ext cx="5860494" cy="275392"/>
          </a:xfrm>
          <a:prstGeom prst="rect">
            <a:avLst/>
          </a:prstGeom>
          <a:noFill/>
          <a:ln/>
        </p:spPr>
        <p:txBody>
          <a:bodyPr wrap="none" lIns="0" tIns="0" rIns="0" bIns="0" rtlCol="0" anchor="t"/>
          <a:lstStyle/>
          <a:p>
            <a:pPr marL="0" indent="0" algn="l">
              <a:lnSpc>
                <a:spcPts val="2150"/>
              </a:lnSpc>
              <a:buNone/>
            </a:pPr>
            <a:r>
              <a:rPr lang="en-US" sz="1400" dirty="0">
                <a:solidFill>
                  <a:srgbClr val="3D3838"/>
                </a:solidFill>
                <a:latin typeface="Source Sans 3" pitchFamily="34" charset="0"/>
                <a:ea typeface="Source Sans 3" pitchFamily="34" charset="-122"/>
                <a:cs typeface="Source Sans 3" pitchFamily="34" charset="-120"/>
              </a:rPr>
              <a:t>Gestion unifiée via Spring Cloud Config</a:t>
            </a:r>
            <a:endParaRPr lang="en-US" sz="1400" dirty="0"/>
          </a:p>
        </p:txBody>
      </p:sp>
      <p:sp>
        <p:nvSpPr>
          <p:cNvPr id="10" name="Shape 7"/>
          <p:cNvSpPr/>
          <p:nvPr/>
        </p:nvSpPr>
        <p:spPr>
          <a:xfrm>
            <a:off x="7546777" y="3602831"/>
            <a:ext cx="6227445" cy="1820704"/>
          </a:xfrm>
          <a:prstGeom prst="roundRect">
            <a:avLst>
              <a:gd name="adj" fmla="val 1512"/>
            </a:avLst>
          </a:prstGeom>
          <a:solidFill>
            <a:srgbClr val="F2EEEE"/>
          </a:solidFill>
          <a:ln/>
        </p:spPr>
        <p:txBody>
          <a:bodyPr/>
          <a:lstStyle/>
          <a:p>
            <a:endParaRPr lang="fr-FR"/>
          </a:p>
        </p:txBody>
      </p:sp>
      <p:sp>
        <p:nvSpPr>
          <p:cNvPr id="11" name="Shape 8"/>
          <p:cNvSpPr/>
          <p:nvPr/>
        </p:nvSpPr>
        <p:spPr>
          <a:xfrm>
            <a:off x="7730252" y="3786307"/>
            <a:ext cx="550664" cy="550664"/>
          </a:xfrm>
          <a:prstGeom prst="roundRect">
            <a:avLst>
              <a:gd name="adj" fmla="val 16603747"/>
            </a:avLst>
          </a:prstGeom>
          <a:solidFill>
            <a:srgbClr val="2D2E34"/>
          </a:solidFill>
          <a:ln/>
        </p:spPr>
        <p:txBody>
          <a:bodyPr/>
          <a:lstStyle/>
          <a:p>
            <a:endParaRPr lang="fr-FR"/>
          </a:p>
        </p:txBody>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81699" y="3937754"/>
            <a:ext cx="247769" cy="247769"/>
          </a:xfrm>
          <a:prstGeom prst="rect">
            <a:avLst/>
          </a:prstGeom>
        </p:spPr>
      </p:pic>
      <p:sp>
        <p:nvSpPr>
          <p:cNvPr id="13" name="Text 9"/>
          <p:cNvSpPr/>
          <p:nvPr/>
        </p:nvSpPr>
        <p:spPr>
          <a:xfrm>
            <a:off x="7730252" y="4520446"/>
            <a:ext cx="2086094" cy="260747"/>
          </a:xfrm>
          <a:prstGeom prst="rect">
            <a:avLst/>
          </a:prstGeom>
          <a:noFill/>
          <a:ln/>
        </p:spPr>
        <p:txBody>
          <a:bodyPr wrap="none" lIns="0" tIns="0" rIns="0" bIns="0" rtlCol="0" anchor="t"/>
          <a:lstStyle/>
          <a:p>
            <a:pPr marL="0" indent="0" algn="l">
              <a:lnSpc>
                <a:spcPts val="2050"/>
              </a:lnSpc>
              <a:buNone/>
            </a:pPr>
            <a:r>
              <a:rPr lang="en-US" sz="1600" b="1" dirty="0">
                <a:solidFill>
                  <a:srgbClr val="3D3838"/>
                </a:solidFill>
                <a:latin typeface="Montserrat Bold" pitchFamily="34" charset="0"/>
                <a:ea typeface="Montserrat Bold" pitchFamily="34" charset="-122"/>
                <a:cs typeface="Montserrat Bold" pitchFamily="34" charset="-120"/>
              </a:rPr>
              <a:t>Service Discovery</a:t>
            </a:r>
            <a:endParaRPr lang="en-US" sz="1600" dirty="0"/>
          </a:p>
        </p:txBody>
      </p:sp>
      <p:sp>
        <p:nvSpPr>
          <p:cNvPr id="14" name="Text 10"/>
          <p:cNvSpPr/>
          <p:nvPr/>
        </p:nvSpPr>
        <p:spPr>
          <a:xfrm>
            <a:off x="7730252" y="4964668"/>
            <a:ext cx="5860494" cy="275392"/>
          </a:xfrm>
          <a:prstGeom prst="rect">
            <a:avLst/>
          </a:prstGeom>
          <a:noFill/>
          <a:ln/>
        </p:spPr>
        <p:txBody>
          <a:bodyPr wrap="none" lIns="0" tIns="0" rIns="0" bIns="0" rtlCol="0" anchor="t"/>
          <a:lstStyle/>
          <a:p>
            <a:pPr marL="0" indent="0" algn="l">
              <a:lnSpc>
                <a:spcPts val="2150"/>
              </a:lnSpc>
              <a:buNone/>
            </a:pPr>
            <a:r>
              <a:rPr lang="en-US" sz="1400" dirty="0">
                <a:solidFill>
                  <a:srgbClr val="3D3838"/>
                </a:solidFill>
                <a:latin typeface="Source Sans 3" pitchFamily="34" charset="0"/>
                <a:ea typeface="Source Sans 3" pitchFamily="34" charset="-122"/>
                <a:cs typeface="Source Sans 3" pitchFamily="34" charset="-120"/>
              </a:rPr>
              <a:t>Découverte automatique avec Eureka</a:t>
            </a:r>
            <a:endParaRPr lang="en-US" sz="1400" dirty="0"/>
          </a:p>
        </p:txBody>
      </p:sp>
      <p:sp>
        <p:nvSpPr>
          <p:cNvPr id="15" name="Shape 11"/>
          <p:cNvSpPr/>
          <p:nvPr/>
        </p:nvSpPr>
        <p:spPr>
          <a:xfrm>
            <a:off x="7546777" y="5607010"/>
            <a:ext cx="6227445" cy="1820704"/>
          </a:xfrm>
          <a:prstGeom prst="roundRect">
            <a:avLst>
              <a:gd name="adj" fmla="val 1512"/>
            </a:avLst>
          </a:prstGeom>
          <a:solidFill>
            <a:srgbClr val="F2EEEE"/>
          </a:solidFill>
          <a:ln/>
        </p:spPr>
        <p:txBody>
          <a:bodyPr/>
          <a:lstStyle/>
          <a:p>
            <a:endParaRPr lang="fr-FR"/>
          </a:p>
        </p:txBody>
      </p:sp>
      <p:sp>
        <p:nvSpPr>
          <p:cNvPr id="16" name="Shape 12"/>
          <p:cNvSpPr/>
          <p:nvPr/>
        </p:nvSpPr>
        <p:spPr>
          <a:xfrm>
            <a:off x="7730252" y="5790486"/>
            <a:ext cx="550664" cy="550664"/>
          </a:xfrm>
          <a:prstGeom prst="roundRect">
            <a:avLst>
              <a:gd name="adj" fmla="val 16603747"/>
            </a:avLst>
          </a:prstGeom>
          <a:solidFill>
            <a:srgbClr val="2D2E34"/>
          </a:solidFill>
          <a:ln/>
        </p:spPr>
        <p:txBody>
          <a:bodyPr/>
          <a:lstStyle/>
          <a:p>
            <a:endParaRPr lang="fr-FR"/>
          </a:p>
        </p:txBody>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81699" y="5941933"/>
            <a:ext cx="247769" cy="247769"/>
          </a:xfrm>
          <a:prstGeom prst="rect">
            <a:avLst/>
          </a:prstGeom>
        </p:spPr>
      </p:pic>
      <p:sp>
        <p:nvSpPr>
          <p:cNvPr id="18" name="Text 13"/>
          <p:cNvSpPr/>
          <p:nvPr/>
        </p:nvSpPr>
        <p:spPr>
          <a:xfrm>
            <a:off x="7730252" y="6524625"/>
            <a:ext cx="2086094" cy="260747"/>
          </a:xfrm>
          <a:prstGeom prst="rect">
            <a:avLst/>
          </a:prstGeom>
          <a:noFill/>
          <a:ln/>
        </p:spPr>
        <p:txBody>
          <a:bodyPr wrap="none" lIns="0" tIns="0" rIns="0" bIns="0" rtlCol="0" anchor="t"/>
          <a:lstStyle/>
          <a:p>
            <a:pPr marL="0" indent="0" algn="l">
              <a:lnSpc>
                <a:spcPts val="2050"/>
              </a:lnSpc>
              <a:buNone/>
            </a:pPr>
            <a:r>
              <a:rPr lang="en-US" sz="1600" b="1" dirty="0">
                <a:solidFill>
                  <a:srgbClr val="3D3838"/>
                </a:solidFill>
                <a:latin typeface="Montserrat Bold" pitchFamily="34" charset="0"/>
                <a:ea typeface="Montserrat Bold" pitchFamily="34" charset="-122"/>
                <a:cs typeface="Montserrat Bold" pitchFamily="34" charset="-120"/>
              </a:rPr>
              <a:t>Résilience</a:t>
            </a:r>
            <a:endParaRPr lang="en-US" sz="1600" dirty="0"/>
          </a:p>
        </p:txBody>
      </p:sp>
      <p:sp>
        <p:nvSpPr>
          <p:cNvPr id="19" name="Text 14"/>
          <p:cNvSpPr/>
          <p:nvPr/>
        </p:nvSpPr>
        <p:spPr>
          <a:xfrm>
            <a:off x="7730252" y="6968847"/>
            <a:ext cx="5860494" cy="275392"/>
          </a:xfrm>
          <a:prstGeom prst="rect">
            <a:avLst/>
          </a:prstGeom>
          <a:noFill/>
          <a:ln/>
        </p:spPr>
        <p:txBody>
          <a:bodyPr wrap="none" lIns="0" tIns="0" rIns="0" bIns="0" rtlCol="0" anchor="t"/>
          <a:lstStyle/>
          <a:p>
            <a:pPr marL="0" indent="0" algn="l">
              <a:lnSpc>
                <a:spcPts val="2150"/>
              </a:lnSpc>
              <a:buNone/>
            </a:pPr>
            <a:r>
              <a:rPr lang="en-US" sz="1400" dirty="0">
                <a:solidFill>
                  <a:srgbClr val="3D3838"/>
                </a:solidFill>
                <a:latin typeface="Source Sans 3" pitchFamily="34" charset="0"/>
                <a:ea typeface="Source Sans 3" pitchFamily="34" charset="-122"/>
                <a:cs typeface="Source Sans 3" pitchFamily="34" charset="-120"/>
              </a:rPr>
              <a:t>Circuit breakers et fallbacks</a:t>
            </a:r>
            <a:endParaRPr lang="en-US" sz="1400" dirty="0"/>
          </a:p>
        </p:txBody>
      </p:sp>
      <p:sp>
        <p:nvSpPr>
          <p:cNvPr id="20" name="ZoneTexte 19">
            <a:extLst>
              <a:ext uri="{FF2B5EF4-FFF2-40B4-BE49-F238E27FC236}">
                <a16:creationId xmlns:a16="http://schemas.microsoft.com/office/drawing/2014/main" id="{890ABB06-8A55-5174-7B9C-A17E49AF97B1}"/>
              </a:ext>
            </a:extLst>
          </p:cNvPr>
          <p:cNvSpPr txBox="1"/>
          <p:nvPr/>
        </p:nvSpPr>
        <p:spPr>
          <a:xfrm>
            <a:off x="12804564" y="7714034"/>
            <a:ext cx="1825836" cy="515566"/>
          </a:xfrm>
          <a:prstGeom prst="rect">
            <a:avLst/>
          </a:prstGeom>
          <a:solidFill>
            <a:schemeClr val="bg1"/>
          </a:solidFill>
          <a:ln>
            <a:solidFill>
              <a:schemeClr val="bg1"/>
            </a:solidFill>
          </a:ln>
        </p:spPr>
        <p:txBody>
          <a:bodyPr wrap="square" rtlCol="0">
            <a:spAutoFit/>
          </a:bodyPr>
          <a:lstStyle/>
          <a:p>
            <a:endParaRPr lang="fr-FR" dirty="0"/>
          </a:p>
        </p:txBody>
      </p:sp>
      <p:sp>
        <p:nvSpPr>
          <p:cNvPr id="21" name="ZoneTexte 20">
            <a:extLst>
              <a:ext uri="{FF2B5EF4-FFF2-40B4-BE49-F238E27FC236}">
                <a16:creationId xmlns:a16="http://schemas.microsoft.com/office/drawing/2014/main" id="{D6ED6AF5-7A1D-D32E-B955-78B5F68B7D3E}"/>
              </a:ext>
            </a:extLst>
          </p:cNvPr>
          <p:cNvSpPr txBox="1"/>
          <p:nvPr/>
        </p:nvSpPr>
        <p:spPr>
          <a:xfrm>
            <a:off x="13861915" y="7714034"/>
            <a:ext cx="573932" cy="369332"/>
          </a:xfrm>
          <a:prstGeom prst="rect">
            <a:avLst/>
          </a:prstGeom>
          <a:noFill/>
        </p:spPr>
        <p:txBody>
          <a:bodyPr wrap="square" rtlCol="0">
            <a:spAutoFit/>
          </a:bodyPr>
          <a:lstStyle/>
          <a:p>
            <a:r>
              <a:rPr lang="fr-FR" dirty="0"/>
              <a:t>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3798" y="1570792"/>
            <a:ext cx="12201644" cy="613529"/>
          </a:xfrm>
          <a:prstGeom prst="rect">
            <a:avLst/>
          </a:prstGeom>
          <a:noFill/>
          <a:ln/>
        </p:spPr>
        <p:txBody>
          <a:bodyPr wrap="none" lIns="0" tIns="0" rIns="0" bIns="0" rtlCol="0" anchor="t"/>
          <a:lstStyle/>
          <a:p>
            <a:pPr marL="0" indent="0" algn="l">
              <a:lnSpc>
                <a:spcPts val="4800"/>
              </a:lnSpc>
              <a:buNone/>
            </a:pPr>
            <a:r>
              <a:rPr lang="en-US" sz="3850" b="1" dirty="0">
                <a:solidFill>
                  <a:srgbClr val="000000"/>
                </a:solidFill>
                <a:latin typeface="Montserrat Bold" pitchFamily="34" charset="0"/>
                <a:ea typeface="Montserrat Bold" pitchFamily="34" charset="-122"/>
                <a:cs typeface="Montserrat Bold" pitchFamily="34" charset="-120"/>
              </a:rPr>
              <a:t>Architecture Backend : Flux de Communication</a:t>
            </a:r>
            <a:endParaRPr lang="en-US" sz="3850" dirty="0"/>
          </a:p>
        </p:txBody>
      </p:sp>
      <p:sp>
        <p:nvSpPr>
          <p:cNvPr id="3" name="Text 1"/>
          <p:cNvSpPr/>
          <p:nvPr/>
        </p:nvSpPr>
        <p:spPr>
          <a:xfrm>
            <a:off x="863798" y="2616160"/>
            <a:ext cx="215860" cy="269915"/>
          </a:xfrm>
          <a:prstGeom prst="rect">
            <a:avLst/>
          </a:prstGeom>
          <a:noFill/>
          <a:ln/>
        </p:spPr>
        <p:txBody>
          <a:bodyPr wrap="none" lIns="0" tIns="0" rIns="0" bIns="0" rtlCol="0" anchor="t"/>
          <a:lstStyle/>
          <a:p>
            <a:pPr marL="0" indent="0" algn="l">
              <a:lnSpc>
                <a:spcPts val="2550"/>
              </a:lnSpc>
              <a:buNone/>
            </a:pPr>
            <a:r>
              <a:rPr lang="en-US" sz="1700" dirty="0">
                <a:solidFill>
                  <a:srgbClr val="3D3838"/>
                </a:solidFill>
                <a:latin typeface="Montserrat Light" pitchFamily="34" charset="0"/>
                <a:ea typeface="Montserrat Light" pitchFamily="34" charset="-122"/>
                <a:cs typeface="Montserrat Light" pitchFamily="34" charset="-120"/>
              </a:rPr>
              <a:t>01</a:t>
            </a:r>
            <a:endParaRPr lang="en-US" sz="1700" dirty="0"/>
          </a:p>
        </p:txBody>
      </p:sp>
      <p:sp>
        <p:nvSpPr>
          <p:cNvPr id="4" name="Shape 2"/>
          <p:cNvSpPr/>
          <p:nvPr/>
        </p:nvSpPr>
        <p:spPr>
          <a:xfrm>
            <a:off x="863798" y="2952631"/>
            <a:ext cx="4156948" cy="30480"/>
          </a:xfrm>
          <a:prstGeom prst="rect">
            <a:avLst/>
          </a:prstGeom>
          <a:solidFill>
            <a:srgbClr val="2D2E34"/>
          </a:solidFill>
          <a:ln/>
        </p:spPr>
        <p:txBody>
          <a:bodyPr/>
          <a:lstStyle/>
          <a:p>
            <a:endParaRPr lang="fr-FR"/>
          </a:p>
        </p:txBody>
      </p:sp>
      <p:sp>
        <p:nvSpPr>
          <p:cNvPr id="5" name="Text 3"/>
          <p:cNvSpPr/>
          <p:nvPr/>
        </p:nvSpPr>
        <p:spPr>
          <a:xfrm>
            <a:off x="863798" y="3121462"/>
            <a:ext cx="2454235" cy="306705"/>
          </a:xfrm>
          <a:prstGeom prst="rect">
            <a:avLst/>
          </a:prstGeom>
          <a:noFill/>
          <a:ln/>
        </p:spPr>
        <p:txBody>
          <a:bodyPr wrap="none" lIns="0" tIns="0" rIns="0" bIns="0" rtlCol="0" anchor="t"/>
          <a:lstStyle/>
          <a:p>
            <a:pPr marL="0" indent="0" algn="l">
              <a:lnSpc>
                <a:spcPts val="2400"/>
              </a:lnSpc>
              <a:buNone/>
            </a:pPr>
            <a:r>
              <a:rPr lang="en-US" sz="1900" b="1" dirty="0">
                <a:solidFill>
                  <a:srgbClr val="3D3838"/>
                </a:solidFill>
                <a:latin typeface="Montserrat Bold" pitchFamily="34" charset="0"/>
                <a:ea typeface="Montserrat Bold" pitchFamily="34" charset="-122"/>
                <a:cs typeface="Montserrat Bold" pitchFamily="34" charset="-120"/>
              </a:rPr>
              <a:t>Configuration</a:t>
            </a:r>
            <a:endParaRPr lang="en-US" sz="1900" dirty="0"/>
          </a:p>
        </p:txBody>
      </p:sp>
      <p:sp>
        <p:nvSpPr>
          <p:cNvPr id="6" name="Text 4"/>
          <p:cNvSpPr/>
          <p:nvPr/>
        </p:nvSpPr>
        <p:spPr>
          <a:xfrm>
            <a:off x="863798" y="3557707"/>
            <a:ext cx="4156948" cy="971907"/>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Les microservices récupèrent leur configuration depuis Config Server au démarrage depuis le dépôt GitHub centralisé</a:t>
            </a:r>
            <a:endParaRPr lang="en-US" sz="1700" dirty="0"/>
          </a:p>
        </p:txBody>
      </p:sp>
      <p:sp>
        <p:nvSpPr>
          <p:cNvPr id="7" name="Text 5"/>
          <p:cNvSpPr/>
          <p:nvPr/>
        </p:nvSpPr>
        <p:spPr>
          <a:xfrm>
            <a:off x="5236607" y="2616160"/>
            <a:ext cx="215860" cy="269915"/>
          </a:xfrm>
          <a:prstGeom prst="rect">
            <a:avLst/>
          </a:prstGeom>
          <a:noFill/>
          <a:ln/>
        </p:spPr>
        <p:txBody>
          <a:bodyPr wrap="none" lIns="0" tIns="0" rIns="0" bIns="0" rtlCol="0" anchor="t"/>
          <a:lstStyle/>
          <a:p>
            <a:pPr marL="0" indent="0" algn="l">
              <a:lnSpc>
                <a:spcPts val="2550"/>
              </a:lnSpc>
              <a:buNone/>
            </a:pPr>
            <a:r>
              <a:rPr lang="en-US" sz="1700" dirty="0">
                <a:solidFill>
                  <a:srgbClr val="3D3838"/>
                </a:solidFill>
                <a:latin typeface="Montserrat Light" pitchFamily="34" charset="0"/>
                <a:ea typeface="Montserrat Light" pitchFamily="34" charset="-122"/>
                <a:cs typeface="Montserrat Light" pitchFamily="34" charset="-120"/>
              </a:rPr>
              <a:t>02</a:t>
            </a:r>
            <a:endParaRPr lang="en-US" sz="1700" dirty="0"/>
          </a:p>
        </p:txBody>
      </p:sp>
      <p:sp>
        <p:nvSpPr>
          <p:cNvPr id="8" name="Shape 6"/>
          <p:cNvSpPr/>
          <p:nvPr/>
        </p:nvSpPr>
        <p:spPr>
          <a:xfrm>
            <a:off x="5236607" y="2952631"/>
            <a:ext cx="4157067" cy="30480"/>
          </a:xfrm>
          <a:prstGeom prst="rect">
            <a:avLst/>
          </a:prstGeom>
          <a:solidFill>
            <a:srgbClr val="2D2E34"/>
          </a:solidFill>
          <a:ln/>
        </p:spPr>
        <p:txBody>
          <a:bodyPr/>
          <a:lstStyle/>
          <a:p>
            <a:endParaRPr lang="fr-FR"/>
          </a:p>
        </p:txBody>
      </p:sp>
      <p:sp>
        <p:nvSpPr>
          <p:cNvPr id="9" name="Text 7"/>
          <p:cNvSpPr/>
          <p:nvPr/>
        </p:nvSpPr>
        <p:spPr>
          <a:xfrm>
            <a:off x="5236607" y="3121462"/>
            <a:ext cx="2454235" cy="306705"/>
          </a:xfrm>
          <a:prstGeom prst="rect">
            <a:avLst/>
          </a:prstGeom>
          <a:noFill/>
          <a:ln/>
        </p:spPr>
        <p:txBody>
          <a:bodyPr wrap="none" lIns="0" tIns="0" rIns="0" bIns="0" rtlCol="0" anchor="t"/>
          <a:lstStyle/>
          <a:p>
            <a:pPr marL="0" indent="0" algn="l">
              <a:lnSpc>
                <a:spcPts val="2400"/>
              </a:lnSpc>
              <a:buNone/>
            </a:pPr>
            <a:r>
              <a:rPr lang="en-US" sz="1900" b="1" dirty="0">
                <a:solidFill>
                  <a:srgbClr val="3D3838"/>
                </a:solidFill>
                <a:latin typeface="Montserrat Bold" pitchFamily="34" charset="0"/>
                <a:ea typeface="Montserrat Bold" pitchFamily="34" charset="-122"/>
                <a:cs typeface="Montserrat Bold" pitchFamily="34" charset="-120"/>
              </a:rPr>
              <a:t>Enregistrement</a:t>
            </a:r>
            <a:endParaRPr lang="en-US" sz="1900" dirty="0"/>
          </a:p>
        </p:txBody>
      </p:sp>
      <p:sp>
        <p:nvSpPr>
          <p:cNvPr id="10" name="Text 8"/>
          <p:cNvSpPr/>
          <p:nvPr/>
        </p:nvSpPr>
        <p:spPr>
          <a:xfrm>
            <a:off x="5236607" y="3557707"/>
            <a:ext cx="4157067" cy="971907"/>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Chaque microservice s'enregistre automatiquement auprès d'Eureka Server pour être découvrable</a:t>
            </a:r>
            <a:endParaRPr lang="en-US" sz="1700" dirty="0"/>
          </a:p>
        </p:txBody>
      </p:sp>
      <p:sp>
        <p:nvSpPr>
          <p:cNvPr id="11" name="Text 9"/>
          <p:cNvSpPr/>
          <p:nvPr/>
        </p:nvSpPr>
        <p:spPr>
          <a:xfrm>
            <a:off x="9609534" y="2616160"/>
            <a:ext cx="215860" cy="269915"/>
          </a:xfrm>
          <a:prstGeom prst="rect">
            <a:avLst/>
          </a:prstGeom>
          <a:noFill/>
          <a:ln/>
        </p:spPr>
        <p:txBody>
          <a:bodyPr wrap="none" lIns="0" tIns="0" rIns="0" bIns="0" rtlCol="0" anchor="t"/>
          <a:lstStyle/>
          <a:p>
            <a:pPr marL="0" indent="0" algn="l">
              <a:lnSpc>
                <a:spcPts val="2550"/>
              </a:lnSpc>
              <a:buNone/>
            </a:pPr>
            <a:r>
              <a:rPr lang="en-US" sz="1700" dirty="0">
                <a:solidFill>
                  <a:srgbClr val="3D3838"/>
                </a:solidFill>
                <a:latin typeface="Montserrat Light" pitchFamily="34" charset="0"/>
                <a:ea typeface="Montserrat Light" pitchFamily="34" charset="-122"/>
                <a:cs typeface="Montserrat Light" pitchFamily="34" charset="-120"/>
              </a:rPr>
              <a:t>03</a:t>
            </a:r>
            <a:endParaRPr lang="en-US" sz="1700" dirty="0"/>
          </a:p>
        </p:txBody>
      </p:sp>
      <p:sp>
        <p:nvSpPr>
          <p:cNvPr id="12" name="Shape 10"/>
          <p:cNvSpPr/>
          <p:nvPr/>
        </p:nvSpPr>
        <p:spPr>
          <a:xfrm>
            <a:off x="9609534" y="2952631"/>
            <a:ext cx="4157067" cy="30480"/>
          </a:xfrm>
          <a:prstGeom prst="rect">
            <a:avLst/>
          </a:prstGeom>
          <a:solidFill>
            <a:srgbClr val="2D2E34"/>
          </a:solidFill>
          <a:ln/>
        </p:spPr>
        <p:txBody>
          <a:bodyPr/>
          <a:lstStyle/>
          <a:p>
            <a:endParaRPr lang="fr-FR"/>
          </a:p>
        </p:txBody>
      </p:sp>
      <p:sp>
        <p:nvSpPr>
          <p:cNvPr id="13" name="Text 11"/>
          <p:cNvSpPr/>
          <p:nvPr/>
        </p:nvSpPr>
        <p:spPr>
          <a:xfrm>
            <a:off x="9609534" y="3121462"/>
            <a:ext cx="2454235" cy="306705"/>
          </a:xfrm>
          <a:prstGeom prst="rect">
            <a:avLst/>
          </a:prstGeom>
          <a:noFill/>
          <a:ln/>
        </p:spPr>
        <p:txBody>
          <a:bodyPr wrap="none" lIns="0" tIns="0" rIns="0" bIns="0" rtlCol="0" anchor="t"/>
          <a:lstStyle/>
          <a:p>
            <a:pPr marL="0" indent="0" algn="l">
              <a:lnSpc>
                <a:spcPts val="2400"/>
              </a:lnSpc>
              <a:buNone/>
            </a:pPr>
            <a:r>
              <a:rPr lang="en-US" sz="1900" b="1" dirty="0">
                <a:solidFill>
                  <a:srgbClr val="3D3838"/>
                </a:solidFill>
                <a:latin typeface="Montserrat Bold" pitchFamily="34" charset="0"/>
                <a:ea typeface="Montserrat Bold" pitchFamily="34" charset="-122"/>
                <a:cs typeface="Montserrat Bold" pitchFamily="34" charset="-120"/>
              </a:rPr>
              <a:t>Découverte</a:t>
            </a:r>
            <a:endParaRPr lang="en-US" sz="1900" dirty="0"/>
          </a:p>
        </p:txBody>
      </p:sp>
      <p:sp>
        <p:nvSpPr>
          <p:cNvPr id="14" name="Text 12"/>
          <p:cNvSpPr/>
          <p:nvPr/>
        </p:nvSpPr>
        <p:spPr>
          <a:xfrm>
            <a:off x="9609534" y="3557707"/>
            <a:ext cx="4157067" cy="647938"/>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Gateway découvre les services disponibles via Eureka et maintient un registre à jour</a:t>
            </a:r>
            <a:endParaRPr lang="en-US" sz="1700" dirty="0"/>
          </a:p>
        </p:txBody>
      </p:sp>
      <p:sp>
        <p:nvSpPr>
          <p:cNvPr id="15" name="Text 13"/>
          <p:cNvSpPr/>
          <p:nvPr/>
        </p:nvSpPr>
        <p:spPr>
          <a:xfrm>
            <a:off x="863798" y="4907399"/>
            <a:ext cx="215860" cy="269915"/>
          </a:xfrm>
          <a:prstGeom prst="rect">
            <a:avLst/>
          </a:prstGeom>
          <a:noFill/>
          <a:ln/>
        </p:spPr>
        <p:txBody>
          <a:bodyPr wrap="none" lIns="0" tIns="0" rIns="0" bIns="0" rtlCol="0" anchor="t"/>
          <a:lstStyle/>
          <a:p>
            <a:pPr marL="0" indent="0" algn="l">
              <a:lnSpc>
                <a:spcPts val="2550"/>
              </a:lnSpc>
              <a:buNone/>
            </a:pPr>
            <a:r>
              <a:rPr lang="en-US" sz="1700" dirty="0">
                <a:solidFill>
                  <a:srgbClr val="3D3838"/>
                </a:solidFill>
                <a:latin typeface="Montserrat Light" pitchFamily="34" charset="0"/>
                <a:ea typeface="Montserrat Light" pitchFamily="34" charset="-122"/>
                <a:cs typeface="Montserrat Light" pitchFamily="34" charset="-120"/>
              </a:rPr>
              <a:t>04</a:t>
            </a:r>
            <a:endParaRPr lang="en-US" sz="1700" dirty="0"/>
          </a:p>
        </p:txBody>
      </p:sp>
      <p:sp>
        <p:nvSpPr>
          <p:cNvPr id="16" name="Shape 14"/>
          <p:cNvSpPr/>
          <p:nvPr/>
        </p:nvSpPr>
        <p:spPr>
          <a:xfrm>
            <a:off x="863798" y="5243870"/>
            <a:ext cx="6343412" cy="30480"/>
          </a:xfrm>
          <a:prstGeom prst="rect">
            <a:avLst/>
          </a:prstGeom>
          <a:solidFill>
            <a:srgbClr val="2D2E34"/>
          </a:solidFill>
          <a:ln/>
        </p:spPr>
        <p:txBody>
          <a:bodyPr/>
          <a:lstStyle/>
          <a:p>
            <a:endParaRPr lang="fr-FR"/>
          </a:p>
        </p:txBody>
      </p:sp>
      <p:sp>
        <p:nvSpPr>
          <p:cNvPr id="17" name="Text 15"/>
          <p:cNvSpPr/>
          <p:nvPr/>
        </p:nvSpPr>
        <p:spPr>
          <a:xfrm>
            <a:off x="863798" y="5412700"/>
            <a:ext cx="2454235" cy="306705"/>
          </a:xfrm>
          <a:prstGeom prst="rect">
            <a:avLst/>
          </a:prstGeom>
          <a:noFill/>
          <a:ln/>
        </p:spPr>
        <p:txBody>
          <a:bodyPr wrap="none" lIns="0" tIns="0" rIns="0" bIns="0" rtlCol="0" anchor="t"/>
          <a:lstStyle/>
          <a:p>
            <a:pPr marL="0" indent="0" algn="l">
              <a:lnSpc>
                <a:spcPts val="2400"/>
              </a:lnSpc>
              <a:buNone/>
            </a:pPr>
            <a:r>
              <a:rPr lang="en-US" sz="1900" b="1" dirty="0">
                <a:solidFill>
                  <a:srgbClr val="3D3838"/>
                </a:solidFill>
                <a:latin typeface="Montserrat Bold" pitchFamily="34" charset="0"/>
                <a:ea typeface="Montserrat Bold" pitchFamily="34" charset="-122"/>
                <a:cs typeface="Montserrat Bold" pitchFamily="34" charset="-120"/>
              </a:rPr>
              <a:t>Routage</a:t>
            </a:r>
            <a:endParaRPr lang="en-US" sz="1900" dirty="0"/>
          </a:p>
        </p:txBody>
      </p:sp>
      <p:sp>
        <p:nvSpPr>
          <p:cNvPr id="18" name="Text 16"/>
          <p:cNvSpPr/>
          <p:nvPr/>
        </p:nvSpPr>
        <p:spPr>
          <a:xfrm>
            <a:off x="863798" y="5848945"/>
            <a:ext cx="6343412" cy="647938"/>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Gateway route intelligemment les requêtes frontend vers les microservices appropriés</a:t>
            </a:r>
            <a:endParaRPr lang="en-US" sz="1700" dirty="0"/>
          </a:p>
        </p:txBody>
      </p:sp>
      <p:sp>
        <p:nvSpPr>
          <p:cNvPr id="19" name="Text 17"/>
          <p:cNvSpPr/>
          <p:nvPr/>
        </p:nvSpPr>
        <p:spPr>
          <a:xfrm>
            <a:off x="7423071" y="4907399"/>
            <a:ext cx="215860" cy="269915"/>
          </a:xfrm>
          <a:prstGeom prst="rect">
            <a:avLst/>
          </a:prstGeom>
          <a:noFill/>
          <a:ln/>
        </p:spPr>
        <p:txBody>
          <a:bodyPr wrap="none" lIns="0" tIns="0" rIns="0" bIns="0" rtlCol="0" anchor="t"/>
          <a:lstStyle/>
          <a:p>
            <a:pPr marL="0" indent="0" algn="l">
              <a:lnSpc>
                <a:spcPts val="2550"/>
              </a:lnSpc>
              <a:buNone/>
            </a:pPr>
            <a:r>
              <a:rPr lang="en-US" sz="1700" dirty="0">
                <a:solidFill>
                  <a:srgbClr val="3D3838"/>
                </a:solidFill>
                <a:latin typeface="Montserrat Light" pitchFamily="34" charset="0"/>
                <a:ea typeface="Montserrat Light" pitchFamily="34" charset="-122"/>
                <a:cs typeface="Montserrat Light" pitchFamily="34" charset="-120"/>
              </a:rPr>
              <a:t>05</a:t>
            </a:r>
            <a:endParaRPr lang="en-US" sz="1700" dirty="0"/>
          </a:p>
        </p:txBody>
      </p:sp>
      <p:sp>
        <p:nvSpPr>
          <p:cNvPr id="20" name="Shape 18"/>
          <p:cNvSpPr/>
          <p:nvPr/>
        </p:nvSpPr>
        <p:spPr>
          <a:xfrm>
            <a:off x="7423071" y="5243870"/>
            <a:ext cx="6343531" cy="30480"/>
          </a:xfrm>
          <a:prstGeom prst="rect">
            <a:avLst/>
          </a:prstGeom>
          <a:solidFill>
            <a:srgbClr val="2D2E34"/>
          </a:solidFill>
          <a:ln/>
        </p:spPr>
        <p:txBody>
          <a:bodyPr/>
          <a:lstStyle/>
          <a:p>
            <a:endParaRPr lang="fr-FR"/>
          </a:p>
        </p:txBody>
      </p:sp>
      <p:sp>
        <p:nvSpPr>
          <p:cNvPr id="21" name="Text 19"/>
          <p:cNvSpPr/>
          <p:nvPr/>
        </p:nvSpPr>
        <p:spPr>
          <a:xfrm>
            <a:off x="7423071" y="5412700"/>
            <a:ext cx="2454235" cy="306705"/>
          </a:xfrm>
          <a:prstGeom prst="rect">
            <a:avLst/>
          </a:prstGeom>
          <a:noFill/>
          <a:ln/>
        </p:spPr>
        <p:txBody>
          <a:bodyPr wrap="none" lIns="0" tIns="0" rIns="0" bIns="0" rtlCol="0" anchor="t"/>
          <a:lstStyle/>
          <a:p>
            <a:pPr marL="0" indent="0" algn="l">
              <a:lnSpc>
                <a:spcPts val="2400"/>
              </a:lnSpc>
              <a:buNone/>
            </a:pPr>
            <a:r>
              <a:rPr lang="en-US" sz="1900" b="1" dirty="0">
                <a:solidFill>
                  <a:srgbClr val="3D3838"/>
                </a:solidFill>
                <a:latin typeface="Montserrat Bold" pitchFamily="34" charset="0"/>
                <a:ea typeface="Montserrat Bold" pitchFamily="34" charset="-122"/>
                <a:cs typeface="Montserrat Bold" pitchFamily="34" charset="-120"/>
              </a:rPr>
              <a:t>Résilience</a:t>
            </a:r>
            <a:endParaRPr lang="en-US" sz="1900" dirty="0"/>
          </a:p>
        </p:txBody>
      </p:sp>
      <p:sp>
        <p:nvSpPr>
          <p:cNvPr id="22" name="Text 20"/>
          <p:cNvSpPr/>
          <p:nvPr/>
        </p:nvSpPr>
        <p:spPr>
          <a:xfrm>
            <a:off x="7423071" y="5848945"/>
            <a:ext cx="6343531" cy="647938"/>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Source Sans 3" pitchFamily="34" charset="0"/>
                <a:ea typeface="Source Sans 3" pitchFamily="34" charset="-122"/>
                <a:cs typeface="Source Sans 3" pitchFamily="34" charset="-120"/>
              </a:rPr>
              <a:t>En cas d'échec, les circuit breakers activent les fallbacks pour assurer la continuité</a:t>
            </a:r>
            <a:endParaRPr lang="en-US" sz="1700" dirty="0"/>
          </a:p>
        </p:txBody>
      </p:sp>
      <p:sp>
        <p:nvSpPr>
          <p:cNvPr id="23" name="ZoneTexte 22">
            <a:extLst>
              <a:ext uri="{FF2B5EF4-FFF2-40B4-BE49-F238E27FC236}">
                <a16:creationId xmlns:a16="http://schemas.microsoft.com/office/drawing/2014/main" id="{EC8D06E6-4E2B-5975-9D0B-00CA3B6B54C0}"/>
              </a:ext>
            </a:extLst>
          </p:cNvPr>
          <p:cNvSpPr txBox="1"/>
          <p:nvPr/>
        </p:nvSpPr>
        <p:spPr>
          <a:xfrm>
            <a:off x="12804564" y="7714034"/>
            <a:ext cx="1825836" cy="515566"/>
          </a:xfrm>
          <a:prstGeom prst="rect">
            <a:avLst/>
          </a:prstGeom>
          <a:solidFill>
            <a:schemeClr val="bg1"/>
          </a:solidFill>
          <a:ln>
            <a:solidFill>
              <a:schemeClr val="bg1"/>
            </a:solidFill>
          </a:ln>
        </p:spPr>
        <p:txBody>
          <a:bodyPr wrap="square" rtlCol="0">
            <a:spAutoFit/>
          </a:bodyPr>
          <a:lstStyle/>
          <a:p>
            <a:endParaRPr lang="fr-FR" dirty="0"/>
          </a:p>
        </p:txBody>
      </p:sp>
      <p:sp>
        <p:nvSpPr>
          <p:cNvPr id="24" name="ZoneTexte 23">
            <a:extLst>
              <a:ext uri="{FF2B5EF4-FFF2-40B4-BE49-F238E27FC236}">
                <a16:creationId xmlns:a16="http://schemas.microsoft.com/office/drawing/2014/main" id="{3E540E07-9440-5B33-FBC2-CA638FE74BA1}"/>
              </a:ext>
            </a:extLst>
          </p:cNvPr>
          <p:cNvSpPr txBox="1"/>
          <p:nvPr/>
        </p:nvSpPr>
        <p:spPr>
          <a:xfrm>
            <a:off x="13861915" y="7714034"/>
            <a:ext cx="573932" cy="369332"/>
          </a:xfrm>
          <a:prstGeom prst="rect">
            <a:avLst/>
          </a:prstGeom>
          <a:noFill/>
        </p:spPr>
        <p:txBody>
          <a:bodyPr wrap="square" rtlCol="0">
            <a:spAutoFit/>
          </a:bodyPr>
          <a:lstStyle/>
          <a:p>
            <a:r>
              <a:rPr lang="fr-FR" dirty="0"/>
              <a:t>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63798" y="640913"/>
            <a:ext cx="9555480" cy="521494"/>
          </a:xfrm>
          <a:prstGeom prst="rect">
            <a:avLst/>
          </a:prstGeom>
          <a:noFill/>
          <a:ln/>
        </p:spPr>
        <p:txBody>
          <a:bodyPr wrap="none" lIns="0" tIns="0" rIns="0" bIns="0" rtlCol="0" anchor="t"/>
          <a:lstStyle/>
          <a:p>
            <a:pPr marL="0" indent="0" algn="l">
              <a:lnSpc>
                <a:spcPts val="4100"/>
              </a:lnSpc>
              <a:buNone/>
            </a:pPr>
            <a:r>
              <a:rPr lang="en-US" sz="3250" b="1" dirty="0">
                <a:solidFill>
                  <a:srgbClr val="000000"/>
                </a:solidFill>
                <a:latin typeface="Montserrat Bold" pitchFamily="34" charset="0"/>
                <a:ea typeface="Montserrat Bold" pitchFamily="34" charset="-122"/>
                <a:cs typeface="Montserrat Bold" pitchFamily="34" charset="-120"/>
              </a:rPr>
              <a:t>Stack Technologique : Backend et Frontend</a:t>
            </a:r>
            <a:endParaRPr lang="en-US" sz="3250" dirty="0"/>
          </a:p>
        </p:txBody>
      </p:sp>
      <p:sp>
        <p:nvSpPr>
          <p:cNvPr id="3" name="Text 1"/>
          <p:cNvSpPr/>
          <p:nvPr/>
        </p:nvSpPr>
        <p:spPr>
          <a:xfrm>
            <a:off x="863798" y="1621155"/>
            <a:ext cx="2927985" cy="312896"/>
          </a:xfrm>
          <a:prstGeom prst="rect">
            <a:avLst/>
          </a:prstGeom>
          <a:noFill/>
          <a:ln/>
        </p:spPr>
        <p:txBody>
          <a:bodyPr wrap="none" lIns="0" tIns="0" rIns="0" bIns="0" rtlCol="0" anchor="t"/>
          <a:lstStyle/>
          <a:p>
            <a:pPr marL="0" indent="0" algn="l">
              <a:lnSpc>
                <a:spcPts val="2450"/>
              </a:lnSpc>
              <a:buNone/>
            </a:pPr>
            <a:r>
              <a:rPr lang="en-US" sz="1950" b="1" dirty="0">
                <a:solidFill>
                  <a:srgbClr val="000000"/>
                </a:solidFill>
                <a:latin typeface="Montserrat Bold" pitchFamily="34" charset="0"/>
                <a:ea typeface="Montserrat Bold" pitchFamily="34" charset="-122"/>
                <a:cs typeface="Montserrat Bold" pitchFamily="34" charset="-120"/>
              </a:rPr>
              <a:t>Backend Spring Cloud</a:t>
            </a:r>
            <a:endParaRPr lang="en-US" sz="19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3798" y="2140506"/>
            <a:ext cx="458867" cy="458867"/>
          </a:xfrm>
          <a:prstGeom prst="rect">
            <a:avLst/>
          </a:prstGeom>
        </p:spPr>
      </p:pic>
      <p:sp>
        <p:nvSpPr>
          <p:cNvPr id="5" name="Text 2"/>
          <p:cNvSpPr/>
          <p:nvPr/>
        </p:nvSpPr>
        <p:spPr>
          <a:xfrm>
            <a:off x="1552099" y="2249448"/>
            <a:ext cx="2663785" cy="260747"/>
          </a:xfrm>
          <a:prstGeom prst="rect">
            <a:avLst/>
          </a:prstGeom>
          <a:noFill/>
          <a:ln/>
        </p:spPr>
        <p:txBody>
          <a:bodyPr wrap="none" lIns="0" tIns="0" rIns="0" bIns="0" rtlCol="0" anchor="t"/>
          <a:lstStyle/>
          <a:p>
            <a:pPr marL="0" indent="0" algn="l">
              <a:lnSpc>
                <a:spcPts val="2050"/>
              </a:lnSpc>
              <a:buNone/>
            </a:pPr>
            <a:r>
              <a:rPr lang="en-US" sz="1600" b="1" dirty="0">
                <a:solidFill>
                  <a:srgbClr val="3D3838"/>
                </a:solidFill>
                <a:latin typeface="Montserrat Bold" pitchFamily="34" charset="0"/>
                <a:ea typeface="Montserrat Bold" pitchFamily="34" charset="-122"/>
                <a:cs typeface="Montserrat Bold" pitchFamily="34" charset="-120"/>
              </a:rPr>
              <a:t>Java 17 + Spring Boot 3.x</a:t>
            </a:r>
            <a:endParaRPr lang="en-US" sz="1600" dirty="0"/>
          </a:p>
        </p:txBody>
      </p:sp>
      <p:sp>
        <p:nvSpPr>
          <p:cNvPr id="6" name="Text 3"/>
          <p:cNvSpPr/>
          <p:nvPr/>
        </p:nvSpPr>
        <p:spPr>
          <a:xfrm>
            <a:off x="1552099" y="2693670"/>
            <a:ext cx="5539145" cy="550783"/>
          </a:xfrm>
          <a:prstGeom prst="rect">
            <a:avLst/>
          </a:prstGeom>
          <a:noFill/>
          <a:ln/>
        </p:spPr>
        <p:txBody>
          <a:bodyPr wrap="square" lIns="0" tIns="0" rIns="0" bIns="0" rtlCol="0" anchor="t"/>
          <a:lstStyle/>
          <a:p>
            <a:pPr marL="0" indent="0" algn="l">
              <a:lnSpc>
                <a:spcPts val="2150"/>
              </a:lnSpc>
              <a:buNone/>
            </a:pPr>
            <a:r>
              <a:rPr lang="en-US" sz="1400" dirty="0">
                <a:solidFill>
                  <a:srgbClr val="3D3838"/>
                </a:solidFill>
                <a:latin typeface="Source Sans 3" pitchFamily="34" charset="0"/>
                <a:ea typeface="Source Sans 3" pitchFamily="34" charset="-122"/>
                <a:cs typeface="Source Sans 3" pitchFamily="34" charset="-120"/>
              </a:rPr>
              <a:t>Framework moderne avec Spring Cloud 2024.x pour l'architecture microservices</a:t>
            </a:r>
            <a:endParaRPr lang="en-US" sz="140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3798" y="3611523"/>
            <a:ext cx="458867" cy="458867"/>
          </a:xfrm>
          <a:prstGeom prst="rect">
            <a:avLst/>
          </a:prstGeom>
        </p:spPr>
      </p:pic>
      <p:sp>
        <p:nvSpPr>
          <p:cNvPr id="8" name="Text 4"/>
          <p:cNvSpPr/>
          <p:nvPr/>
        </p:nvSpPr>
        <p:spPr>
          <a:xfrm>
            <a:off x="1552099" y="3720465"/>
            <a:ext cx="2193012" cy="260747"/>
          </a:xfrm>
          <a:prstGeom prst="rect">
            <a:avLst/>
          </a:prstGeom>
          <a:noFill/>
          <a:ln/>
        </p:spPr>
        <p:txBody>
          <a:bodyPr wrap="none" lIns="0" tIns="0" rIns="0" bIns="0" rtlCol="0" anchor="t"/>
          <a:lstStyle/>
          <a:p>
            <a:pPr marL="0" indent="0" algn="l">
              <a:lnSpc>
                <a:spcPts val="2050"/>
              </a:lnSpc>
              <a:buNone/>
            </a:pPr>
            <a:r>
              <a:rPr lang="en-US" sz="1600" b="1" dirty="0">
                <a:solidFill>
                  <a:srgbClr val="3D3838"/>
                </a:solidFill>
                <a:latin typeface="Montserrat Bold" pitchFamily="34" charset="0"/>
                <a:ea typeface="Montserrat Bold" pitchFamily="34" charset="-122"/>
                <a:cs typeface="Montserrat Bold" pitchFamily="34" charset="-120"/>
              </a:rPr>
              <a:t>Spring Cloud Config</a:t>
            </a:r>
            <a:endParaRPr lang="en-US" sz="1600" dirty="0"/>
          </a:p>
        </p:txBody>
      </p:sp>
      <p:sp>
        <p:nvSpPr>
          <p:cNvPr id="9" name="Text 5"/>
          <p:cNvSpPr/>
          <p:nvPr/>
        </p:nvSpPr>
        <p:spPr>
          <a:xfrm>
            <a:off x="1552099" y="4164687"/>
            <a:ext cx="5539145" cy="550783"/>
          </a:xfrm>
          <a:prstGeom prst="rect">
            <a:avLst/>
          </a:prstGeom>
          <a:noFill/>
          <a:ln/>
        </p:spPr>
        <p:txBody>
          <a:bodyPr wrap="square" lIns="0" tIns="0" rIns="0" bIns="0" rtlCol="0" anchor="t"/>
          <a:lstStyle/>
          <a:p>
            <a:pPr marL="0" indent="0" algn="l">
              <a:lnSpc>
                <a:spcPts val="2150"/>
              </a:lnSpc>
              <a:buNone/>
            </a:pPr>
            <a:r>
              <a:rPr lang="en-US" sz="1400" dirty="0">
                <a:solidFill>
                  <a:srgbClr val="3D3838"/>
                </a:solidFill>
                <a:latin typeface="Source Sans 3" pitchFamily="34" charset="0"/>
                <a:ea typeface="Source Sans 3" pitchFamily="34" charset="-122"/>
                <a:cs typeface="Source Sans 3" pitchFamily="34" charset="-120"/>
              </a:rPr>
              <a:t>Configuration centralisée avec support Git pour la gestion des environnements</a:t>
            </a:r>
            <a:endParaRPr lang="en-US" sz="140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3798" y="5082540"/>
            <a:ext cx="458867" cy="458867"/>
          </a:xfrm>
          <a:prstGeom prst="rect">
            <a:avLst/>
          </a:prstGeom>
        </p:spPr>
      </p:pic>
      <p:sp>
        <p:nvSpPr>
          <p:cNvPr id="11" name="Text 6"/>
          <p:cNvSpPr/>
          <p:nvPr/>
        </p:nvSpPr>
        <p:spPr>
          <a:xfrm>
            <a:off x="1552099" y="5191482"/>
            <a:ext cx="2423398" cy="260747"/>
          </a:xfrm>
          <a:prstGeom prst="rect">
            <a:avLst/>
          </a:prstGeom>
          <a:noFill/>
          <a:ln/>
        </p:spPr>
        <p:txBody>
          <a:bodyPr wrap="none" lIns="0" tIns="0" rIns="0" bIns="0" rtlCol="0" anchor="t"/>
          <a:lstStyle/>
          <a:p>
            <a:pPr marL="0" indent="0" algn="l">
              <a:lnSpc>
                <a:spcPts val="2050"/>
              </a:lnSpc>
              <a:buNone/>
            </a:pPr>
            <a:r>
              <a:rPr lang="en-US" sz="1600" b="1" dirty="0">
                <a:solidFill>
                  <a:srgbClr val="3D3838"/>
                </a:solidFill>
                <a:latin typeface="Montserrat Bold" pitchFamily="34" charset="0"/>
                <a:ea typeface="Montserrat Bold" pitchFamily="34" charset="-122"/>
                <a:cs typeface="Montserrat Bold" pitchFamily="34" charset="-120"/>
              </a:rPr>
              <a:t>Spring Cloud Gateway</a:t>
            </a:r>
            <a:endParaRPr lang="en-US" sz="1600" dirty="0"/>
          </a:p>
        </p:txBody>
      </p:sp>
      <p:sp>
        <p:nvSpPr>
          <p:cNvPr id="12" name="Text 7"/>
          <p:cNvSpPr/>
          <p:nvPr/>
        </p:nvSpPr>
        <p:spPr>
          <a:xfrm>
            <a:off x="1552099" y="5635704"/>
            <a:ext cx="5539145" cy="275392"/>
          </a:xfrm>
          <a:prstGeom prst="rect">
            <a:avLst/>
          </a:prstGeom>
          <a:noFill/>
          <a:ln/>
        </p:spPr>
        <p:txBody>
          <a:bodyPr wrap="none" lIns="0" tIns="0" rIns="0" bIns="0" rtlCol="0" anchor="t"/>
          <a:lstStyle/>
          <a:p>
            <a:pPr marL="0" indent="0" algn="l">
              <a:lnSpc>
                <a:spcPts val="2150"/>
              </a:lnSpc>
              <a:buNone/>
            </a:pPr>
            <a:r>
              <a:rPr lang="en-US" sz="1400" dirty="0">
                <a:solidFill>
                  <a:srgbClr val="3D3838"/>
                </a:solidFill>
                <a:latin typeface="Source Sans 3" pitchFamily="34" charset="0"/>
                <a:ea typeface="Source Sans 3" pitchFamily="34" charset="-122"/>
                <a:cs typeface="Source Sans 3" pitchFamily="34" charset="-120"/>
              </a:rPr>
              <a:t>API Gateway avec load balancing et circuit breaker Resilience4J</a:t>
            </a:r>
            <a:endParaRPr lang="en-US" sz="1400" dirty="0"/>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63798" y="6278166"/>
            <a:ext cx="458867" cy="458867"/>
          </a:xfrm>
          <a:prstGeom prst="rect">
            <a:avLst/>
          </a:prstGeom>
        </p:spPr>
      </p:pic>
      <p:sp>
        <p:nvSpPr>
          <p:cNvPr id="14" name="Text 8"/>
          <p:cNvSpPr/>
          <p:nvPr/>
        </p:nvSpPr>
        <p:spPr>
          <a:xfrm>
            <a:off x="1552099" y="6387108"/>
            <a:ext cx="2345412" cy="260747"/>
          </a:xfrm>
          <a:prstGeom prst="rect">
            <a:avLst/>
          </a:prstGeom>
          <a:noFill/>
          <a:ln/>
        </p:spPr>
        <p:txBody>
          <a:bodyPr wrap="none" lIns="0" tIns="0" rIns="0" bIns="0" rtlCol="0" anchor="t"/>
          <a:lstStyle/>
          <a:p>
            <a:pPr marL="0" indent="0" algn="l">
              <a:lnSpc>
                <a:spcPts val="2050"/>
              </a:lnSpc>
              <a:buNone/>
            </a:pPr>
            <a:r>
              <a:rPr lang="en-US" sz="1600" b="1" dirty="0">
                <a:solidFill>
                  <a:srgbClr val="3D3838"/>
                </a:solidFill>
                <a:latin typeface="Montserrat Bold" pitchFamily="34" charset="0"/>
                <a:ea typeface="Montserrat Bold" pitchFamily="34" charset="-122"/>
                <a:cs typeface="Montserrat Bold" pitchFamily="34" charset="-120"/>
              </a:rPr>
              <a:t>H2 Database + Maven</a:t>
            </a:r>
            <a:endParaRPr lang="en-US" sz="1600" dirty="0"/>
          </a:p>
        </p:txBody>
      </p:sp>
      <p:sp>
        <p:nvSpPr>
          <p:cNvPr id="15" name="Text 9"/>
          <p:cNvSpPr/>
          <p:nvPr/>
        </p:nvSpPr>
        <p:spPr>
          <a:xfrm>
            <a:off x="1552099" y="6831330"/>
            <a:ext cx="5539145" cy="550783"/>
          </a:xfrm>
          <a:prstGeom prst="rect">
            <a:avLst/>
          </a:prstGeom>
          <a:noFill/>
          <a:ln/>
        </p:spPr>
        <p:txBody>
          <a:bodyPr wrap="square" lIns="0" tIns="0" rIns="0" bIns="0" rtlCol="0" anchor="t"/>
          <a:lstStyle/>
          <a:p>
            <a:pPr marL="0" indent="0" algn="l">
              <a:lnSpc>
                <a:spcPts val="2150"/>
              </a:lnSpc>
              <a:buNone/>
            </a:pPr>
            <a:r>
              <a:rPr lang="en-US" sz="1400" dirty="0">
                <a:solidFill>
                  <a:srgbClr val="3D3838"/>
                </a:solidFill>
                <a:latin typeface="Source Sans 3" pitchFamily="34" charset="0"/>
                <a:ea typeface="Source Sans 3" pitchFamily="34" charset="-122"/>
                <a:cs typeface="Source Sans 3" pitchFamily="34" charset="-120"/>
              </a:rPr>
              <a:t>Base de données en mémoire avec documentation OpenAPI automatique</a:t>
            </a:r>
            <a:endParaRPr lang="en-US" sz="1400" dirty="0"/>
          </a:p>
        </p:txBody>
      </p:sp>
      <p:sp>
        <p:nvSpPr>
          <p:cNvPr id="16" name="Text 10"/>
          <p:cNvSpPr/>
          <p:nvPr/>
        </p:nvSpPr>
        <p:spPr>
          <a:xfrm>
            <a:off x="7546777" y="1621155"/>
            <a:ext cx="3095387" cy="312896"/>
          </a:xfrm>
          <a:prstGeom prst="rect">
            <a:avLst/>
          </a:prstGeom>
          <a:noFill/>
          <a:ln/>
        </p:spPr>
        <p:txBody>
          <a:bodyPr wrap="none" lIns="0" tIns="0" rIns="0" bIns="0" rtlCol="0" anchor="t"/>
          <a:lstStyle/>
          <a:p>
            <a:pPr marL="0" indent="0" algn="l">
              <a:lnSpc>
                <a:spcPts val="2450"/>
              </a:lnSpc>
              <a:buNone/>
            </a:pPr>
            <a:r>
              <a:rPr lang="en-US" sz="1950" b="1" dirty="0">
                <a:solidFill>
                  <a:srgbClr val="000000"/>
                </a:solidFill>
                <a:latin typeface="Montserrat Bold" pitchFamily="34" charset="0"/>
                <a:ea typeface="Montserrat Bold" pitchFamily="34" charset="-122"/>
                <a:cs typeface="Montserrat Bold" pitchFamily="34" charset="-120"/>
              </a:rPr>
              <a:t>Frontend Modern Stack</a:t>
            </a:r>
            <a:endParaRPr lang="en-US" sz="1950" dirty="0"/>
          </a:p>
        </p:txBody>
      </p:sp>
      <p:pic>
        <p:nvPicPr>
          <p:cNvPr id="17"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546777" y="2140506"/>
            <a:ext cx="458867" cy="458867"/>
          </a:xfrm>
          <a:prstGeom prst="rect">
            <a:avLst/>
          </a:prstGeom>
        </p:spPr>
      </p:pic>
      <p:sp>
        <p:nvSpPr>
          <p:cNvPr id="18" name="Text 11"/>
          <p:cNvSpPr/>
          <p:nvPr/>
        </p:nvSpPr>
        <p:spPr>
          <a:xfrm>
            <a:off x="8235077" y="2249448"/>
            <a:ext cx="2161818" cy="260747"/>
          </a:xfrm>
          <a:prstGeom prst="rect">
            <a:avLst/>
          </a:prstGeom>
          <a:noFill/>
          <a:ln/>
        </p:spPr>
        <p:txBody>
          <a:bodyPr wrap="none" lIns="0" tIns="0" rIns="0" bIns="0" rtlCol="0" anchor="t"/>
          <a:lstStyle/>
          <a:p>
            <a:pPr marL="0" indent="0" algn="l">
              <a:lnSpc>
                <a:spcPts val="2050"/>
              </a:lnSpc>
              <a:buNone/>
            </a:pPr>
            <a:r>
              <a:rPr lang="en-US" sz="1600" b="1" dirty="0">
                <a:solidFill>
                  <a:srgbClr val="3D3838"/>
                </a:solidFill>
                <a:latin typeface="Montserrat Bold" pitchFamily="34" charset="0"/>
                <a:ea typeface="Montserrat Bold" pitchFamily="34" charset="-122"/>
                <a:cs typeface="Montserrat Bold" pitchFamily="34" charset="-120"/>
              </a:rPr>
              <a:t>Next.js 16 + React 19</a:t>
            </a:r>
            <a:endParaRPr lang="en-US" sz="1600" dirty="0"/>
          </a:p>
        </p:txBody>
      </p:sp>
      <p:sp>
        <p:nvSpPr>
          <p:cNvPr id="19" name="Text 12"/>
          <p:cNvSpPr/>
          <p:nvPr/>
        </p:nvSpPr>
        <p:spPr>
          <a:xfrm>
            <a:off x="8235077" y="2693670"/>
            <a:ext cx="5539145" cy="275392"/>
          </a:xfrm>
          <a:prstGeom prst="rect">
            <a:avLst/>
          </a:prstGeom>
          <a:noFill/>
          <a:ln/>
        </p:spPr>
        <p:txBody>
          <a:bodyPr wrap="none" lIns="0" tIns="0" rIns="0" bIns="0" rtlCol="0" anchor="t"/>
          <a:lstStyle/>
          <a:p>
            <a:pPr marL="0" indent="0" algn="l">
              <a:lnSpc>
                <a:spcPts val="2150"/>
              </a:lnSpc>
              <a:buNone/>
            </a:pPr>
            <a:r>
              <a:rPr lang="en-US" sz="1400" dirty="0">
                <a:solidFill>
                  <a:srgbClr val="3D3838"/>
                </a:solidFill>
                <a:latin typeface="Source Sans 3" pitchFamily="34" charset="0"/>
                <a:ea typeface="Source Sans 3" pitchFamily="34" charset="-122"/>
                <a:cs typeface="Source Sans 3" pitchFamily="34" charset="-120"/>
              </a:rPr>
              <a:t>Framework avec SSR et TypeScript 5.x pour le typage statique robuste</a:t>
            </a:r>
            <a:endParaRPr lang="en-US" sz="1400" dirty="0"/>
          </a:p>
        </p:txBody>
      </p:sp>
      <p:pic>
        <p:nvPicPr>
          <p:cNvPr id="20"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546777" y="3336131"/>
            <a:ext cx="458867" cy="458867"/>
          </a:xfrm>
          <a:prstGeom prst="rect">
            <a:avLst/>
          </a:prstGeom>
        </p:spPr>
      </p:pic>
      <p:sp>
        <p:nvSpPr>
          <p:cNvPr id="21" name="Text 13"/>
          <p:cNvSpPr/>
          <p:nvPr/>
        </p:nvSpPr>
        <p:spPr>
          <a:xfrm>
            <a:off x="8235077" y="3445073"/>
            <a:ext cx="2712839" cy="260747"/>
          </a:xfrm>
          <a:prstGeom prst="rect">
            <a:avLst/>
          </a:prstGeom>
          <a:noFill/>
          <a:ln/>
        </p:spPr>
        <p:txBody>
          <a:bodyPr wrap="none" lIns="0" tIns="0" rIns="0" bIns="0" rtlCol="0" anchor="t"/>
          <a:lstStyle/>
          <a:p>
            <a:pPr marL="0" indent="0" algn="l">
              <a:lnSpc>
                <a:spcPts val="2050"/>
              </a:lnSpc>
              <a:buNone/>
            </a:pPr>
            <a:r>
              <a:rPr lang="en-US" sz="1600" b="1" dirty="0">
                <a:solidFill>
                  <a:srgbClr val="3D3838"/>
                </a:solidFill>
                <a:latin typeface="Montserrat Bold" pitchFamily="34" charset="0"/>
                <a:ea typeface="Montserrat Bold" pitchFamily="34" charset="-122"/>
                <a:cs typeface="Montserrat Bold" pitchFamily="34" charset="-120"/>
              </a:rPr>
              <a:t>Tailwind CSS + shadcn/ui</a:t>
            </a:r>
            <a:endParaRPr lang="en-US" sz="1600" dirty="0"/>
          </a:p>
        </p:txBody>
      </p:sp>
      <p:sp>
        <p:nvSpPr>
          <p:cNvPr id="22" name="Text 14"/>
          <p:cNvSpPr/>
          <p:nvPr/>
        </p:nvSpPr>
        <p:spPr>
          <a:xfrm>
            <a:off x="8235077" y="3889296"/>
            <a:ext cx="5539145" cy="550783"/>
          </a:xfrm>
          <a:prstGeom prst="rect">
            <a:avLst/>
          </a:prstGeom>
          <a:noFill/>
          <a:ln/>
        </p:spPr>
        <p:txBody>
          <a:bodyPr wrap="square" lIns="0" tIns="0" rIns="0" bIns="0" rtlCol="0" anchor="t"/>
          <a:lstStyle/>
          <a:p>
            <a:pPr marL="0" indent="0" algn="l">
              <a:lnSpc>
                <a:spcPts val="2150"/>
              </a:lnSpc>
              <a:buNone/>
            </a:pPr>
            <a:r>
              <a:rPr lang="en-US" sz="1400" dirty="0">
                <a:solidFill>
                  <a:srgbClr val="3D3838"/>
                </a:solidFill>
                <a:latin typeface="Source Sans 3" pitchFamily="34" charset="0"/>
                <a:ea typeface="Source Sans 3" pitchFamily="34" charset="-122"/>
                <a:cs typeface="Source Sans 3" pitchFamily="34" charset="-120"/>
              </a:rPr>
              <a:t>Framework CSS moderne avec composants UI préconçus et personnalisables</a:t>
            </a:r>
            <a:endParaRPr lang="en-US" sz="1400" dirty="0"/>
          </a:p>
        </p:txBody>
      </p:sp>
      <p:pic>
        <p:nvPicPr>
          <p:cNvPr id="23" name="Image 6"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546777" y="4807148"/>
            <a:ext cx="458867" cy="458867"/>
          </a:xfrm>
          <a:prstGeom prst="rect">
            <a:avLst/>
          </a:prstGeom>
        </p:spPr>
      </p:pic>
      <p:sp>
        <p:nvSpPr>
          <p:cNvPr id="24" name="Text 15"/>
          <p:cNvSpPr/>
          <p:nvPr/>
        </p:nvSpPr>
        <p:spPr>
          <a:xfrm>
            <a:off x="8235077" y="4916091"/>
            <a:ext cx="2086094" cy="260747"/>
          </a:xfrm>
          <a:prstGeom prst="rect">
            <a:avLst/>
          </a:prstGeom>
          <a:noFill/>
          <a:ln/>
        </p:spPr>
        <p:txBody>
          <a:bodyPr wrap="none" lIns="0" tIns="0" rIns="0" bIns="0" rtlCol="0" anchor="t"/>
          <a:lstStyle/>
          <a:p>
            <a:pPr marL="0" indent="0" algn="l">
              <a:lnSpc>
                <a:spcPts val="2050"/>
              </a:lnSpc>
              <a:buNone/>
            </a:pPr>
            <a:r>
              <a:rPr lang="en-US" sz="1600" b="1" dirty="0">
                <a:solidFill>
                  <a:srgbClr val="3D3838"/>
                </a:solidFill>
                <a:latin typeface="Montserrat Bold" pitchFamily="34" charset="0"/>
                <a:ea typeface="Montserrat Bold" pitchFamily="34" charset="-122"/>
                <a:cs typeface="Montserrat Bold" pitchFamily="34" charset="-120"/>
              </a:rPr>
              <a:t>Lucide React</a:t>
            </a:r>
            <a:endParaRPr lang="en-US" sz="1600" dirty="0"/>
          </a:p>
        </p:txBody>
      </p:sp>
      <p:sp>
        <p:nvSpPr>
          <p:cNvPr id="25" name="Text 16"/>
          <p:cNvSpPr/>
          <p:nvPr/>
        </p:nvSpPr>
        <p:spPr>
          <a:xfrm>
            <a:off x="8235077" y="5360313"/>
            <a:ext cx="5539145" cy="550783"/>
          </a:xfrm>
          <a:prstGeom prst="rect">
            <a:avLst/>
          </a:prstGeom>
          <a:noFill/>
          <a:ln/>
        </p:spPr>
        <p:txBody>
          <a:bodyPr wrap="square" lIns="0" tIns="0" rIns="0" bIns="0" rtlCol="0" anchor="t"/>
          <a:lstStyle/>
          <a:p>
            <a:pPr marL="0" indent="0" algn="l">
              <a:lnSpc>
                <a:spcPts val="2150"/>
              </a:lnSpc>
              <a:buNone/>
            </a:pPr>
            <a:r>
              <a:rPr lang="en-US" sz="1400" dirty="0">
                <a:solidFill>
                  <a:srgbClr val="3D3838"/>
                </a:solidFill>
                <a:latin typeface="Source Sans 3" pitchFamily="34" charset="0"/>
                <a:ea typeface="Source Sans 3" pitchFamily="34" charset="-122"/>
                <a:cs typeface="Source Sans 3" pitchFamily="34" charset="-120"/>
              </a:rPr>
              <a:t>Bibliothèque d'icônes moderne et date-fns pour la manipulation de dates</a:t>
            </a:r>
            <a:endParaRPr lang="en-US" sz="1400" dirty="0"/>
          </a:p>
        </p:txBody>
      </p:sp>
      <p:pic>
        <p:nvPicPr>
          <p:cNvPr id="26" name="Image 7" descr="preencoded.png"/>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546777" y="6278166"/>
            <a:ext cx="458867" cy="458867"/>
          </a:xfrm>
          <a:prstGeom prst="rect">
            <a:avLst/>
          </a:prstGeom>
        </p:spPr>
      </p:pic>
      <p:sp>
        <p:nvSpPr>
          <p:cNvPr id="27" name="Text 17"/>
          <p:cNvSpPr/>
          <p:nvPr/>
        </p:nvSpPr>
        <p:spPr>
          <a:xfrm>
            <a:off x="8235077" y="6387108"/>
            <a:ext cx="2086094" cy="260747"/>
          </a:xfrm>
          <a:prstGeom prst="rect">
            <a:avLst/>
          </a:prstGeom>
          <a:noFill/>
          <a:ln/>
        </p:spPr>
        <p:txBody>
          <a:bodyPr wrap="none" lIns="0" tIns="0" rIns="0" bIns="0" rtlCol="0" anchor="t"/>
          <a:lstStyle/>
          <a:p>
            <a:pPr marL="0" indent="0" algn="l">
              <a:lnSpc>
                <a:spcPts val="2050"/>
              </a:lnSpc>
              <a:buNone/>
            </a:pPr>
            <a:r>
              <a:rPr lang="en-US" sz="1600" b="1" dirty="0">
                <a:solidFill>
                  <a:srgbClr val="3D3838"/>
                </a:solidFill>
                <a:latin typeface="Montserrat Bold" pitchFamily="34" charset="0"/>
                <a:ea typeface="Montserrat Bold" pitchFamily="34" charset="-122"/>
                <a:cs typeface="Montserrat Bold" pitchFamily="34" charset="-120"/>
              </a:rPr>
              <a:t>Design Responsive</a:t>
            </a:r>
            <a:endParaRPr lang="en-US" sz="1600" dirty="0"/>
          </a:p>
        </p:txBody>
      </p:sp>
      <p:sp>
        <p:nvSpPr>
          <p:cNvPr id="28" name="Text 18"/>
          <p:cNvSpPr/>
          <p:nvPr/>
        </p:nvSpPr>
        <p:spPr>
          <a:xfrm>
            <a:off x="8235077" y="6831330"/>
            <a:ext cx="5539145" cy="275392"/>
          </a:xfrm>
          <a:prstGeom prst="rect">
            <a:avLst/>
          </a:prstGeom>
          <a:noFill/>
          <a:ln/>
        </p:spPr>
        <p:txBody>
          <a:bodyPr wrap="none" lIns="0" tIns="0" rIns="0" bIns="0" rtlCol="0" anchor="t"/>
          <a:lstStyle/>
          <a:p>
            <a:pPr marL="0" indent="0" algn="l">
              <a:lnSpc>
                <a:spcPts val="2150"/>
              </a:lnSpc>
              <a:buNone/>
            </a:pPr>
            <a:r>
              <a:rPr lang="en-US" sz="1400" dirty="0">
                <a:solidFill>
                  <a:srgbClr val="3D3838"/>
                </a:solidFill>
                <a:latin typeface="Source Sans 3" pitchFamily="34" charset="0"/>
                <a:ea typeface="Source Sans 3" pitchFamily="34" charset="-122"/>
                <a:cs typeface="Source Sans 3" pitchFamily="34" charset="-120"/>
              </a:rPr>
              <a:t>Interface adaptative avec mode sombre/clair et internationalisation</a:t>
            </a:r>
            <a:endParaRPr lang="en-US" sz="1400" dirty="0"/>
          </a:p>
        </p:txBody>
      </p:sp>
      <p:sp>
        <p:nvSpPr>
          <p:cNvPr id="29" name="ZoneTexte 28">
            <a:extLst>
              <a:ext uri="{FF2B5EF4-FFF2-40B4-BE49-F238E27FC236}">
                <a16:creationId xmlns:a16="http://schemas.microsoft.com/office/drawing/2014/main" id="{62FAEFD7-93B9-3E0D-E11E-EBD44339B15F}"/>
              </a:ext>
            </a:extLst>
          </p:cNvPr>
          <p:cNvSpPr txBox="1"/>
          <p:nvPr/>
        </p:nvSpPr>
        <p:spPr>
          <a:xfrm>
            <a:off x="12804564" y="7714034"/>
            <a:ext cx="1825836" cy="515566"/>
          </a:xfrm>
          <a:prstGeom prst="rect">
            <a:avLst/>
          </a:prstGeom>
          <a:solidFill>
            <a:schemeClr val="bg1"/>
          </a:solidFill>
          <a:ln>
            <a:solidFill>
              <a:schemeClr val="bg1"/>
            </a:solidFill>
          </a:ln>
        </p:spPr>
        <p:txBody>
          <a:bodyPr wrap="square" rtlCol="0">
            <a:spAutoFit/>
          </a:bodyPr>
          <a:lstStyle/>
          <a:p>
            <a:endParaRPr lang="fr-FR" dirty="0"/>
          </a:p>
        </p:txBody>
      </p:sp>
      <p:sp>
        <p:nvSpPr>
          <p:cNvPr id="30" name="ZoneTexte 29">
            <a:extLst>
              <a:ext uri="{FF2B5EF4-FFF2-40B4-BE49-F238E27FC236}">
                <a16:creationId xmlns:a16="http://schemas.microsoft.com/office/drawing/2014/main" id="{9709DFDC-2752-72E8-7DC5-EEE565E11057}"/>
              </a:ext>
            </a:extLst>
          </p:cNvPr>
          <p:cNvSpPr txBox="1"/>
          <p:nvPr/>
        </p:nvSpPr>
        <p:spPr>
          <a:xfrm>
            <a:off x="13861915" y="7714034"/>
            <a:ext cx="573932" cy="369332"/>
          </a:xfrm>
          <a:prstGeom prst="rect">
            <a:avLst/>
          </a:prstGeom>
          <a:noFill/>
        </p:spPr>
        <p:txBody>
          <a:bodyPr wrap="square" rtlCol="0">
            <a:spAutoFit/>
          </a:bodyPr>
          <a:lstStyle/>
          <a:p>
            <a:r>
              <a:rPr lang="fr-FR" dirty="0"/>
              <a:t>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3798" y="705803"/>
            <a:ext cx="11717179" cy="552093"/>
          </a:xfrm>
          <a:prstGeom prst="rect">
            <a:avLst/>
          </a:prstGeom>
          <a:noFill/>
          <a:ln/>
        </p:spPr>
        <p:txBody>
          <a:bodyPr wrap="none" lIns="0" tIns="0" rIns="0" bIns="0" rtlCol="0" anchor="t"/>
          <a:lstStyle/>
          <a:p>
            <a:pPr marL="0" indent="0" algn="l">
              <a:lnSpc>
                <a:spcPts val="4300"/>
              </a:lnSpc>
              <a:buNone/>
            </a:pPr>
            <a:r>
              <a:rPr lang="en-US" sz="3450" b="1" dirty="0">
                <a:solidFill>
                  <a:srgbClr val="000000"/>
                </a:solidFill>
                <a:latin typeface="Montserrat Bold" pitchFamily="34" charset="0"/>
                <a:ea typeface="Montserrat Bold" pitchFamily="34" charset="-122"/>
                <a:cs typeface="Montserrat Bold" pitchFamily="34" charset="-120"/>
              </a:rPr>
              <a:t>Les Microservices : Architecture et Responsabilités</a:t>
            </a:r>
            <a:endParaRPr lang="en-US" sz="3450" dirty="0"/>
          </a:p>
        </p:txBody>
      </p:sp>
      <p:sp>
        <p:nvSpPr>
          <p:cNvPr id="3" name="Shape 1"/>
          <p:cNvSpPr/>
          <p:nvPr/>
        </p:nvSpPr>
        <p:spPr>
          <a:xfrm>
            <a:off x="863798" y="1646634"/>
            <a:ext cx="4171355" cy="3133011"/>
          </a:xfrm>
          <a:prstGeom prst="roundRect">
            <a:avLst>
              <a:gd name="adj" fmla="val 931"/>
            </a:avLst>
          </a:prstGeom>
          <a:solidFill>
            <a:srgbClr val="F2EEEE"/>
          </a:solidFill>
          <a:ln/>
        </p:spPr>
        <p:txBody>
          <a:bodyPr/>
          <a:lstStyle/>
          <a:p>
            <a:endParaRPr lang="fr-FR"/>
          </a:p>
        </p:txBody>
      </p:sp>
      <p:sp>
        <p:nvSpPr>
          <p:cNvPr id="4" name="Shape 2"/>
          <p:cNvSpPr/>
          <p:nvPr/>
        </p:nvSpPr>
        <p:spPr>
          <a:xfrm>
            <a:off x="1058108" y="1840944"/>
            <a:ext cx="583049" cy="583049"/>
          </a:xfrm>
          <a:prstGeom prst="roundRect">
            <a:avLst>
              <a:gd name="adj" fmla="val 15681505"/>
            </a:avLst>
          </a:prstGeom>
          <a:solidFill>
            <a:srgbClr val="2D2E34"/>
          </a:solidFill>
          <a:ln/>
        </p:spPr>
        <p:txBody>
          <a:bodyPr/>
          <a:lstStyle/>
          <a:p>
            <a:endParaRPr lang="fr-FR"/>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18486" y="2001203"/>
            <a:ext cx="262295" cy="262295"/>
          </a:xfrm>
          <a:prstGeom prst="rect">
            <a:avLst/>
          </a:prstGeom>
        </p:spPr>
      </p:pic>
      <p:sp>
        <p:nvSpPr>
          <p:cNvPr id="6" name="Text 3"/>
          <p:cNvSpPr/>
          <p:nvPr/>
        </p:nvSpPr>
        <p:spPr>
          <a:xfrm>
            <a:off x="1058108" y="2618303"/>
            <a:ext cx="2208848" cy="275987"/>
          </a:xfrm>
          <a:prstGeom prst="rect">
            <a:avLst/>
          </a:prstGeom>
          <a:noFill/>
          <a:ln/>
        </p:spPr>
        <p:txBody>
          <a:bodyPr wrap="none" lIns="0" tIns="0" rIns="0" bIns="0" rtlCol="0" anchor="t"/>
          <a:lstStyle/>
          <a:p>
            <a:pPr marL="0" indent="0" algn="l">
              <a:lnSpc>
                <a:spcPts val="2150"/>
              </a:lnSpc>
              <a:buNone/>
            </a:pPr>
            <a:r>
              <a:rPr lang="en-US" sz="1700" b="1" dirty="0">
                <a:solidFill>
                  <a:srgbClr val="3D3838"/>
                </a:solidFill>
                <a:latin typeface="Montserrat Bold" pitchFamily="34" charset="0"/>
                <a:ea typeface="Montserrat Bold" pitchFamily="34" charset="-122"/>
                <a:cs typeface="Montserrat Bold" pitchFamily="34" charset="-120"/>
              </a:rPr>
              <a:t>Config Server</a:t>
            </a:r>
            <a:endParaRPr lang="en-US" sz="1700" dirty="0"/>
          </a:p>
        </p:txBody>
      </p:sp>
      <p:sp>
        <p:nvSpPr>
          <p:cNvPr id="7" name="Text 4"/>
          <p:cNvSpPr/>
          <p:nvPr/>
        </p:nvSpPr>
        <p:spPr>
          <a:xfrm>
            <a:off x="1058108" y="3010853"/>
            <a:ext cx="3782735" cy="291584"/>
          </a:xfrm>
          <a:prstGeom prst="rect">
            <a:avLst/>
          </a:prstGeom>
          <a:noFill/>
          <a:ln/>
        </p:spPr>
        <p:txBody>
          <a:bodyPr wrap="none" lIns="0" tIns="0" rIns="0" bIns="0" rtlCol="0" anchor="t"/>
          <a:lstStyle/>
          <a:p>
            <a:pPr marL="0" indent="0" algn="l">
              <a:lnSpc>
                <a:spcPts val="2250"/>
              </a:lnSpc>
              <a:buNone/>
            </a:pPr>
            <a:r>
              <a:rPr lang="en-US" sz="1500" b="1" dirty="0">
                <a:solidFill>
                  <a:srgbClr val="3D3838"/>
                </a:solidFill>
                <a:latin typeface="Source Sans 3" pitchFamily="34" charset="0"/>
                <a:ea typeface="Source Sans 3" pitchFamily="34" charset="-122"/>
                <a:cs typeface="Source Sans 3" pitchFamily="34" charset="-120"/>
              </a:rPr>
              <a:t>Port 9101</a:t>
            </a:r>
            <a:endParaRPr lang="en-US" sz="1500" dirty="0"/>
          </a:p>
        </p:txBody>
      </p:sp>
      <p:sp>
        <p:nvSpPr>
          <p:cNvPr id="8" name="Text 5"/>
          <p:cNvSpPr/>
          <p:nvPr/>
        </p:nvSpPr>
        <p:spPr>
          <a:xfrm>
            <a:off x="1058108" y="3418999"/>
            <a:ext cx="3782735" cy="874752"/>
          </a:xfrm>
          <a:prstGeom prst="rect">
            <a:avLst/>
          </a:prstGeom>
          <a:noFill/>
          <a:ln/>
        </p:spPr>
        <p:txBody>
          <a:bodyPr wrap="square" lIns="0" tIns="0" rIns="0" bIns="0" rtlCol="0" anchor="t"/>
          <a:lstStyle/>
          <a:p>
            <a:pPr marL="0" indent="0" algn="l">
              <a:lnSpc>
                <a:spcPts val="2250"/>
              </a:lnSpc>
              <a:buNone/>
            </a:pPr>
            <a:r>
              <a:rPr lang="en-US" sz="1500" dirty="0">
                <a:solidFill>
                  <a:srgbClr val="3D3838"/>
                </a:solidFill>
                <a:latin typeface="Source Sans 3" pitchFamily="34" charset="0"/>
                <a:ea typeface="Source Sans 3" pitchFamily="34" charset="-122"/>
                <a:cs typeface="Source Sans 3" pitchFamily="34" charset="-120"/>
              </a:rPr>
              <a:t>Gestion centralisée des configurations depuis GitHub. Distribue les fichiers de configuration à tous les microservices au démarrage.</a:t>
            </a:r>
            <a:endParaRPr lang="en-US" sz="1500" dirty="0"/>
          </a:p>
        </p:txBody>
      </p:sp>
      <p:sp>
        <p:nvSpPr>
          <p:cNvPr id="9" name="Shape 6"/>
          <p:cNvSpPr/>
          <p:nvPr/>
        </p:nvSpPr>
        <p:spPr>
          <a:xfrm>
            <a:off x="5229463" y="1646634"/>
            <a:ext cx="4171355" cy="3133011"/>
          </a:xfrm>
          <a:prstGeom prst="roundRect">
            <a:avLst>
              <a:gd name="adj" fmla="val 931"/>
            </a:avLst>
          </a:prstGeom>
          <a:solidFill>
            <a:srgbClr val="F2EEEE"/>
          </a:solidFill>
          <a:ln/>
        </p:spPr>
        <p:txBody>
          <a:bodyPr/>
          <a:lstStyle/>
          <a:p>
            <a:endParaRPr lang="fr-FR"/>
          </a:p>
        </p:txBody>
      </p:sp>
      <p:sp>
        <p:nvSpPr>
          <p:cNvPr id="10" name="Shape 7"/>
          <p:cNvSpPr/>
          <p:nvPr/>
        </p:nvSpPr>
        <p:spPr>
          <a:xfrm>
            <a:off x="5423773" y="1840944"/>
            <a:ext cx="583049" cy="583049"/>
          </a:xfrm>
          <a:prstGeom prst="roundRect">
            <a:avLst>
              <a:gd name="adj" fmla="val 15681505"/>
            </a:avLst>
          </a:prstGeom>
          <a:solidFill>
            <a:srgbClr val="2D2E34"/>
          </a:solidFill>
          <a:ln/>
        </p:spPr>
        <p:txBody>
          <a:bodyPr/>
          <a:lstStyle/>
          <a:p>
            <a:endParaRPr lang="fr-FR"/>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84150" y="2001203"/>
            <a:ext cx="262295" cy="262295"/>
          </a:xfrm>
          <a:prstGeom prst="rect">
            <a:avLst/>
          </a:prstGeom>
        </p:spPr>
      </p:pic>
      <p:sp>
        <p:nvSpPr>
          <p:cNvPr id="12" name="Text 8"/>
          <p:cNvSpPr/>
          <p:nvPr/>
        </p:nvSpPr>
        <p:spPr>
          <a:xfrm>
            <a:off x="5423773" y="2618303"/>
            <a:ext cx="2208848" cy="275987"/>
          </a:xfrm>
          <a:prstGeom prst="rect">
            <a:avLst/>
          </a:prstGeom>
          <a:noFill/>
          <a:ln/>
        </p:spPr>
        <p:txBody>
          <a:bodyPr wrap="none" lIns="0" tIns="0" rIns="0" bIns="0" rtlCol="0" anchor="t"/>
          <a:lstStyle/>
          <a:p>
            <a:pPr marL="0" indent="0" algn="l">
              <a:lnSpc>
                <a:spcPts val="2150"/>
              </a:lnSpc>
              <a:buNone/>
            </a:pPr>
            <a:r>
              <a:rPr lang="en-US" sz="1700" b="1" dirty="0">
                <a:solidFill>
                  <a:srgbClr val="3D3838"/>
                </a:solidFill>
                <a:latin typeface="Montserrat Bold" pitchFamily="34" charset="0"/>
                <a:ea typeface="Montserrat Bold" pitchFamily="34" charset="-122"/>
                <a:cs typeface="Montserrat Bold" pitchFamily="34" charset="-120"/>
              </a:rPr>
              <a:t>Eureka Server</a:t>
            </a:r>
            <a:endParaRPr lang="en-US" sz="1700" dirty="0"/>
          </a:p>
        </p:txBody>
      </p:sp>
      <p:sp>
        <p:nvSpPr>
          <p:cNvPr id="13" name="Text 9"/>
          <p:cNvSpPr/>
          <p:nvPr/>
        </p:nvSpPr>
        <p:spPr>
          <a:xfrm>
            <a:off x="5423773" y="3010853"/>
            <a:ext cx="3782735" cy="291584"/>
          </a:xfrm>
          <a:prstGeom prst="rect">
            <a:avLst/>
          </a:prstGeom>
          <a:noFill/>
          <a:ln/>
        </p:spPr>
        <p:txBody>
          <a:bodyPr wrap="none" lIns="0" tIns="0" rIns="0" bIns="0" rtlCol="0" anchor="t"/>
          <a:lstStyle/>
          <a:p>
            <a:pPr marL="0" indent="0" algn="l">
              <a:lnSpc>
                <a:spcPts val="2250"/>
              </a:lnSpc>
              <a:buNone/>
            </a:pPr>
            <a:r>
              <a:rPr lang="en-US" sz="1500" b="1" dirty="0">
                <a:solidFill>
                  <a:srgbClr val="3D3838"/>
                </a:solidFill>
                <a:latin typeface="Source Sans 3" pitchFamily="34" charset="0"/>
                <a:ea typeface="Source Sans 3" pitchFamily="34" charset="-122"/>
                <a:cs typeface="Source Sans 3" pitchFamily="34" charset="-120"/>
              </a:rPr>
              <a:t>Port 9102</a:t>
            </a:r>
            <a:endParaRPr lang="en-US" sz="1500" dirty="0"/>
          </a:p>
        </p:txBody>
      </p:sp>
      <p:sp>
        <p:nvSpPr>
          <p:cNvPr id="14" name="Text 10"/>
          <p:cNvSpPr/>
          <p:nvPr/>
        </p:nvSpPr>
        <p:spPr>
          <a:xfrm>
            <a:off x="5423773" y="3418999"/>
            <a:ext cx="3782735" cy="1166336"/>
          </a:xfrm>
          <a:prstGeom prst="rect">
            <a:avLst/>
          </a:prstGeom>
          <a:noFill/>
          <a:ln/>
        </p:spPr>
        <p:txBody>
          <a:bodyPr wrap="square" lIns="0" tIns="0" rIns="0" bIns="0" rtlCol="0" anchor="t"/>
          <a:lstStyle/>
          <a:p>
            <a:pPr marL="0" indent="0" algn="l">
              <a:lnSpc>
                <a:spcPts val="2250"/>
              </a:lnSpc>
              <a:buNone/>
            </a:pPr>
            <a:r>
              <a:rPr lang="en-US" sz="1500" dirty="0">
                <a:solidFill>
                  <a:srgbClr val="3D3838"/>
                </a:solidFill>
                <a:latin typeface="Source Sans 3" pitchFamily="34" charset="0"/>
                <a:ea typeface="Source Sans 3" pitchFamily="34" charset="-122"/>
                <a:cs typeface="Source Sans 3" pitchFamily="34" charset="-120"/>
              </a:rPr>
              <a:t>Service de découverte permettant l'enregistrement et la localisation automatique des microservices avec dashboard de monitoring.</a:t>
            </a:r>
            <a:endParaRPr lang="en-US" sz="1500" dirty="0"/>
          </a:p>
        </p:txBody>
      </p:sp>
      <p:sp>
        <p:nvSpPr>
          <p:cNvPr id="15" name="Shape 11"/>
          <p:cNvSpPr/>
          <p:nvPr/>
        </p:nvSpPr>
        <p:spPr>
          <a:xfrm>
            <a:off x="9595128" y="1646634"/>
            <a:ext cx="4171355" cy="3133011"/>
          </a:xfrm>
          <a:prstGeom prst="roundRect">
            <a:avLst>
              <a:gd name="adj" fmla="val 931"/>
            </a:avLst>
          </a:prstGeom>
          <a:solidFill>
            <a:srgbClr val="F2EEEE"/>
          </a:solidFill>
          <a:ln/>
        </p:spPr>
        <p:txBody>
          <a:bodyPr/>
          <a:lstStyle/>
          <a:p>
            <a:endParaRPr lang="fr-FR"/>
          </a:p>
        </p:txBody>
      </p:sp>
      <p:sp>
        <p:nvSpPr>
          <p:cNvPr id="16" name="Shape 12"/>
          <p:cNvSpPr/>
          <p:nvPr/>
        </p:nvSpPr>
        <p:spPr>
          <a:xfrm>
            <a:off x="9789438" y="1840944"/>
            <a:ext cx="583049" cy="583049"/>
          </a:xfrm>
          <a:prstGeom prst="roundRect">
            <a:avLst>
              <a:gd name="adj" fmla="val 15681505"/>
            </a:avLst>
          </a:prstGeom>
          <a:solidFill>
            <a:srgbClr val="2D2E34"/>
          </a:solidFill>
          <a:ln/>
        </p:spPr>
        <p:txBody>
          <a:bodyPr/>
          <a:lstStyle/>
          <a:p>
            <a:endParaRPr lang="fr-FR"/>
          </a:p>
        </p:txBody>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49815" y="2001203"/>
            <a:ext cx="262295" cy="262295"/>
          </a:xfrm>
          <a:prstGeom prst="rect">
            <a:avLst/>
          </a:prstGeom>
        </p:spPr>
      </p:pic>
      <p:sp>
        <p:nvSpPr>
          <p:cNvPr id="18" name="Text 13"/>
          <p:cNvSpPr/>
          <p:nvPr/>
        </p:nvSpPr>
        <p:spPr>
          <a:xfrm>
            <a:off x="9789438" y="2618303"/>
            <a:ext cx="2208848" cy="275987"/>
          </a:xfrm>
          <a:prstGeom prst="rect">
            <a:avLst/>
          </a:prstGeom>
          <a:noFill/>
          <a:ln/>
        </p:spPr>
        <p:txBody>
          <a:bodyPr wrap="none" lIns="0" tIns="0" rIns="0" bIns="0" rtlCol="0" anchor="t"/>
          <a:lstStyle/>
          <a:p>
            <a:pPr marL="0" indent="0" algn="l">
              <a:lnSpc>
                <a:spcPts val="2150"/>
              </a:lnSpc>
              <a:buNone/>
            </a:pPr>
            <a:r>
              <a:rPr lang="en-US" sz="1700" b="1" dirty="0">
                <a:solidFill>
                  <a:srgbClr val="3D3838"/>
                </a:solidFill>
                <a:latin typeface="Montserrat Bold" pitchFamily="34" charset="0"/>
                <a:ea typeface="Montserrat Bold" pitchFamily="34" charset="-122"/>
                <a:cs typeface="Montserrat Bold" pitchFamily="34" charset="-120"/>
              </a:rPr>
              <a:t>Service Produits</a:t>
            </a:r>
            <a:endParaRPr lang="en-US" sz="1700" dirty="0"/>
          </a:p>
        </p:txBody>
      </p:sp>
      <p:sp>
        <p:nvSpPr>
          <p:cNvPr id="19" name="Text 14"/>
          <p:cNvSpPr/>
          <p:nvPr/>
        </p:nvSpPr>
        <p:spPr>
          <a:xfrm>
            <a:off x="9789438" y="3010853"/>
            <a:ext cx="3782735" cy="291584"/>
          </a:xfrm>
          <a:prstGeom prst="rect">
            <a:avLst/>
          </a:prstGeom>
          <a:noFill/>
          <a:ln/>
        </p:spPr>
        <p:txBody>
          <a:bodyPr wrap="none" lIns="0" tIns="0" rIns="0" bIns="0" rtlCol="0" anchor="t"/>
          <a:lstStyle/>
          <a:p>
            <a:pPr marL="0" indent="0" algn="l">
              <a:lnSpc>
                <a:spcPts val="2250"/>
              </a:lnSpc>
              <a:buNone/>
            </a:pPr>
            <a:r>
              <a:rPr lang="en-US" sz="1500" b="1" dirty="0">
                <a:solidFill>
                  <a:srgbClr val="3D3838"/>
                </a:solidFill>
                <a:latin typeface="Source Sans 3" pitchFamily="34" charset="0"/>
                <a:ea typeface="Source Sans 3" pitchFamily="34" charset="-122"/>
                <a:cs typeface="Source Sans 3" pitchFamily="34" charset="-120"/>
              </a:rPr>
              <a:t>Port 9001</a:t>
            </a:r>
            <a:endParaRPr lang="en-US" sz="1500" dirty="0"/>
          </a:p>
        </p:txBody>
      </p:sp>
      <p:sp>
        <p:nvSpPr>
          <p:cNvPr id="20" name="Text 15"/>
          <p:cNvSpPr/>
          <p:nvPr/>
        </p:nvSpPr>
        <p:spPr>
          <a:xfrm>
            <a:off x="9789438" y="3418999"/>
            <a:ext cx="3782735" cy="874752"/>
          </a:xfrm>
          <a:prstGeom prst="rect">
            <a:avLst/>
          </a:prstGeom>
          <a:noFill/>
          <a:ln/>
        </p:spPr>
        <p:txBody>
          <a:bodyPr wrap="square" lIns="0" tIns="0" rIns="0" bIns="0" rtlCol="0" anchor="t"/>
          <a:lstStyle/>
          <a:p>
            <a:pPr marL="0" indent="0" algn="l">
              <a:lnSpc>
                <a:spcPts val="2250"/>
              </a:lnSpc>
              <a:buNone/>
            </a:pPr>
            <a:r>
              <a:rPr lang="en-US" sz="1500" dirty="0">
                <a:solidFill>
                  <a:srgbClr val="3D3838"/>
                </a:solidFill>
                <a:latin typeface="Source Sans 3" pitchFamily="34" charset="0"/>
                <a:ea typeface="Source Sans 3" pitchFamily="34" charset="-122"/>
                <a:cs typeface="Source Sans 3" pitchFamily="34" charset="-120"/>
              </a:rPr>
              <a:t>Gestion CRUD complète des produits avec recherche avancée, intégration commandes et documentation OpenAPI.</a:t>
            </a:r>
            <a:endParaRPr lang="en-US" sz="1500" dirty="0"/>
          </a:p>
        </p:txBody>
      </p:sp>
      <p:sp>
        <p:nvSpPr>
          <p:cNvPr id="21" name="Shape 16"/>
          <p:cNvSpPr/>
          <p:nvPr/>
        </p:nvSpPr>
        <p:spPr>
          <a:xfrm>
            <a:off x="863798" y="4973955"/>
            <a:ext cx="6354128" cy="2549843"/>
          </a:xfrm>
          <a:prstGeom prst="roundRect">
            <a:avLst>
              <a:gd name="adj" fmla="val 1143"/>
            </a:avLst>
          </a:prstGeom>
          <a:solidFill>
            <a:srgbClr val="F2EEEE"/>
          </a:solidFill>
          <a:ln/>
        </p:spPr>
        <p:txBody>
          <a:bodyPr/>
          <a:lstStyle/>
          <a:p>
            <a:endParaRPr lang="fr-FR"/>
          </a:p>
        </p:txBody>
      </p:sp>
      <p:sp>
        <p:nvSpPr>
          <p:cNvPr id="22" name="Shape 17"/>
          <p:cNvSpPr/>
          <p:nvPr/>
        </p:nvSpPr>
        <p:spPr>
          <a:xfrm>
            <a:off x="1058108" y="5168265"/>
            <a:ext cx="583049" cy="583049"/>
          </a:xfrm>
          <a:prstGeom prst="roundRect">
            <a:avLst>
              <a:gd name="adj" fmla="val 15681505"/>
            </a:avLst>
          </a:prstGeom>
          <a:solidFill>
            <a:srgbClr val="2D2E34"/>
          </a:solidFill>
          <a:ln/>
        </p:spPr>
        <p:txBody>
          <a:bodyPr/>
          <a:lstStyle/>
          <a:p>
            <a:endParaRPr lang="fr-FR"/>
          </a:p>
        </p:txBody>
      </p:sp>
      <p:pic>
        <p:nvPicPr>
          <p:cNvPr id="2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18486" y="5328523"/>
            <a:ext cx="262295" cy="262295"/>
          </a:xfrm>
          <a:prstGeom prst="rect">
            <a:avLst/>
          </a:prstGeom>
        </p:spPr>
      </p:pic>
      <p:sp>
        <p:nvSpPr>
          <p:cNvPr id="24" name="Text 18"/>
          <p:cNvSpPr/>
          <p:nvPr/>
        </p:nvSpPr>
        <p:spPr>
          <a:xfrm>
            <a:off x="1058108" y="5945624"/>
            <a:ext cx="2369939" cy="275987"/>
          </a:xfrm>
          <a:prstGeom prst="rect">
            <a:avLst/>
          </a:prstGeom>
          <a:noFill/>
          <a:ln/>
        </p:spPr>
        <p:txBody>
          <a:bodyPr wrap="none" lIns="0" tIns="0" rIns="0" bIns="0" rtlCol="0" anchor="t"/>
          <a:lstStyle/>
          <a:p>
            <a:pPr marL="0" indent="0" algn="l">
              <a:lnSpc>
                <a:spcPts val="2150"/>
              </a:lnSpc>
              <a:buNone/>
            </a:pPr>
            <a:r>
              <a:rPr lang="en-US" sz="1700" b="1" dirty="0">
                <a:solidFill>
                  <a:srgbClr val="3D3838"/>
                </a:solidFill>
                <a:latin typeface="Montserrat Bold" pitchFamily="34" charset="0"/>
                <a:ea typeface="Montserrat Bold" pitchFamily="34" charset="-122"/>
                <a:cs typeface="Montserrat Bold" pitchFamily="34" charset="-120"/>
              </a:rPr>
              <a:t>Service Commandes</a:t>
            </a:r>
            <a:endParaRPr lang="en-US" sz="1700" dirty="0"/>
          </a:p>
        </p:txBody>
      </p:sp>
      <p:sp>
        <p:nvSpPr>
          <p:cNvPr id="25" name="Text 19"/>
          <p:cNvSpPr/>
          <p:nvPr/>
        </p:nvSpPr>
        <p:spPr>
          <a:xfrm>
            <a:off x="1058108" y="6338173"/>
            <a:ext cx="5965508" cy="291584"/>
          </a:xfrm>
          <a:prstGeom prst="rect">
            <a:avLst/>
          </a:prstGeom>
          <a:noFill/>
          <a:ln/>
        </p:spPr>
        <p:txBody>
          <a:bodyPr wrap="none" lIns="0" tIns="0" rIns="0" bIns="0" rtlCol="0" anchor="t"/>
          <a:lstStyle/>
          <a:p>
            <a:pPr marL="0" indent="0" algn="l">
              <a:lnSpc>
                <a:spcPts val="2250"/>
              </a:lnSpc>
              <a:buNone/>
            </a:pPr>
            <a:r>
              <a:rPr lang="en-US" sz="1500" b="1" dirty="0">
                <a:solidFill>
                  <a:srgbClr val="3D3838"/>
                </a:solidFill>
                <a:latin typeface="Source Sans 3" pitchFamily="34" charset="0"/>
                <a:ea typeface="Source Sans 3" pitchFamily="34" charset="-122"/>
                <a:cs typeface="Source Sans 3" pitchFamily="34" charset="-120"/>
              </a:rPr>
              <a:t>Port 8081</a:t>
            </a:r>
            <a:endParaRPr lang="en-US" sz="1500" dirty="0"/>
          </a:p>
        </p:txBody>
      </p:sp>
      <p:sp>
        <p:nvSpPr>
          <p:cNvPr id="26" name="Text 20"/>
          <p:cNvSpPr/>
          <p:nvPr/>
        </p:nvSpPr>
        <p:spPr>
          <a:xfrm>
            <a:off x="1058108" y="6746319"/>
            <a:ext cx="5965508" cy="583168"/>
          </a:xfrm>
          <a:prstGeom prst="rect">
            <a:avLst/>
          </a:prstGeom>
          <a:noFill/>
          <a:ln/>
        </p:spPr>
        <p:txBody>
          <a:bodyPr wrap="square" lIns="0" tIns="0" rIns="0" bIns="0" rtlCol="0" anchor="t"/>
          <a:lstStyle/>
          <a:p>
            <a:pPr marL="0" indent="0" algn="l">
              <a:lnSpc>
                <a:spcPts val="2250"/>
              </a:lnSpc>
              <a:buNone/>
            </a:pPr>
            <a:r>
              <a:rPr lang="en-US" sz="1500" dirty="0">
                <a:solidFill>
                  <a:srgbClr val="3D3838"/>
                </a:solidFill>
                <a:latin typeface="Source Sans 3" pitchFamily="34" charset="0"/>
                <a:ea typeface="Source Sans 3" pitchFamily="34" charset="-122"/>
                <a:cs typeface="Source Sans 3" pitchFamily="34" charset="-120"/>
              </a:rPr>
              <a:t>Gestion des commandes avec référence aux produits, HealthIndicator personnalisé et validation d'intégrité référentielle.</a:t>
            </a:r>
            <a:endParaRPr lang="en-US" sz="1500" dirty="0"/>
          </a:p>
        </p:txBody>
      </p:sp>
      <p:sp>
        <p:nvSpPr>
          <p:cNvPr id="27" name="Shape 21"/>
          <p:cNvSpPr/>
          <p:nvPr/>
        </p:nvSpPr>
        <p:spPr>
          <a:xfrm>
            <a:off x="7412236" y="4973955"/>
            <a:ext cx="6354247" cy="2549843"/>
          </a:xfrm>
          <a:prstGeom prst="roundRect">
            <a:avLst>
              <a:gd name="adj" fmla="val 1143"/>
            </a:avLst>
          </a:prstGeom>
          <a:solidFill>
            <a:srgbClr val="F2EEEE"/>
          </a:solidFill>
          <a:ln/>
        </p:spPr>
        <p:txBody>
          <a:bodyPr/>
          <a:lstStyle/>
          <a:p>
            <a:endParaRPr lang="fr-FR"/>
          </a:p>
        </p:txBody>
      </p:sp>
      <p:sp>
        <p:nvSpPr>
          <p:cNvPr id="28" name="Shape 22"/>
          <p:cNvSpPr/>
          <p:nvPr/>
        </p:nvSpPr>
        <p:spPr>
          <a:xfrm>
            <a:off x="7606546" y="5168265"/>
            <a:ext cx="583049" cy="583049"/>
          </a:xfrm>
          <a:prstGeom prst="roundRect">
            <a:avLst>
              <a:gd name="adj" fmla="val 15681505"/>
            </a:avLst>
          </a:prstGeom>
          <a:solidFill>
            <a:srgbClr val="2D2E34"/>
          </a:solidFill>
          <a:ln/>
        </p:spPr>
        <p:txBody>
          <a:bodyPr/>
          <a:lstStyle/>
          <a:p>
            <a:endParaRPr lang="fr-FR"/>
          </a:p>
        </p:txBody>
      </p:sp>
      <p:pic>
        <p:nvPicPr>
          <p:cNvPr id="29"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66923" y="5328523"/>
            <a:ext cx="262295" cy="262295"/>
          </a:xfrm>
          <a:prstGeom prst="rect">
            <a:avLst/>
          </a:prstGeom>
        </p:spPr>
      </p:pic>
      <p:sp>
        <p:nvSpPr>
          <p:cNvPr id="30" name="Text 23"/>
          <p:cNvSpPr/>
          <p:nvPr/>
        </p:nvSpPr>
        <p:spPr>
          <a:xfrm>
            <a:off x="7606546" y="5945624"/>
            <a:ext cx="2208848" cy="275987"/>
          </a:xfrm>
          <a:prstGeom prst="rect">
            <a:avLst/>
          </a:prstGeom>
          <a:noFill/>
          <a:ln/>
        </p:spPr>
        <p:txBody>
          <a:bodyPr wrap="none" lIns="0" tIns="0" rIns="0" bIns="0" rtlCol="0" anchor="t"/>
          <a:lstStyle/>
          <a:p>
            <a:pPr marL="0" indent="0" algn="l">
              <a:lnSpc>
                <a:spcPts val="2150"/>
              </a:lnSpc>
              <a:buNone/>
            </a:pPr>
            <a:r>
              <a:rPr lang="en-US" sz="1700" b="1" dirty="0">
                <a:solidFill>
                  <a:srgbClr val="3D3838"/>
                </a:solidFill>
                <a:latin typeface="Montserrat Bold" pitchFamily="34" charset="0"/>
                <a:ea typeface="Montserrat Bold" pitchFamily="34" charset="-122"/>
                <a:cs typeface="Montserrat Bold" pitchFamily="34" charset="-120"/>
              </a:rPr>
              <a:t>API Gateway</a:t>
            </a:r>
            <a:endParaRPr lang="en-US" sz="1700" dirty="0"/>
          </a:p>
        </p:txBody>
      </p:sp>
      <p:sp>
        <p:nvSpPr>
          <p:cNvPr id="31" name="Text 24"/>
          <p:cNvSpPr/>
          <p:nvPr/>
        </p:nvSpPr>
        <p:spPr>
          <a:xfrm>
            <a:off x="7606546" y="6338173"/>
            <a:ext cx="5965627" cy="291584"/>
          </a:xfrm>
          <a:prstGeom prst="rect">
            <a:avLst/>
          </a:prstGeom>
          <a:noFill/>
          <a:ln/>
        </p:spPr>
        <p:txBody>
          <a:bodyPr wrap="none" lIns="0" tIns="0" rIns="0" bIns="0" rtlCol="0" anchor="t"/>
          <a:lstStyle/>
          <a:p>
            <a:pPr marL="0" indent="0" algn="l">
              <a:lnSpc>
                <a:spcPts val="2250"/>
              </a:lnSpc>
              <a:buNone/>
            </a:pPr>
            <a:r>
              <a:rPr lang="en-US" sz="1500" b="1" dirty="0">
                <a:solidFill>
                  <a:srgbClr val="3D3838"/>
                </a:solidFill>
                <a:latin typeface="Source Sans 3" pitchFamily="34" charset="0"/>
                <a:ea typeface="Source Sans 3" pitchFamily="34" charset="-122"/>
                <a:cs typeface="Source Sans 3" pitchFamily="34" charset="-120"/>
              </a:rPr>
              <a:t>Port 9103</a:t>
            </a:r>
            <a:endParaRPr lang="en-US" sz="1500" dirty="0"/>
          </a:p>
        </p:txBody>
      </p:sp>
      <p:sp>
        <p:nvSpPr>
          <p:cNvPr id="32" name="Text 25"/>
          <p:cNvSpPr/>
          <p:nvPr/>
        </p:nvSpPr>
        <p:spPr>
          <a:xfrm>
            <a:off x="7606546" y="6746319"/>
            <a:ext cx="5965627" cy="583168"/>
          </a:xfrm>
          <a:prstGeom prst="rect">
            <a:avLst/>
          </a:prstGeom>
          <a:noFill/>
          <a:ln/>
        </p:spPr>
        <p:txBody>
          <a:bodyPr wrap="square" lIns="0" tIns="0" rIns="0" bIns="0" rtlCol="0" anchor="t"/>
          <a:lstStyle/>
          <a:p>
            <a:pPr marL="0" indent="0" algn="l">
              <a:lnSpc>
                <a:spcPts val="2250"/>
              </a:lnSpc>
              <a:buNone/>
            </a:pPr>
            <a:r>
              <a:rPr lang="en-US" sz="1500" dirty="0">
                <a:solidFill>
                  <a:srgbClr val="3D3838"/>
                </a:solidFill>
                <a:latin typeface="Source Sans 3" pitchFamily="34" charset="0"/>
                <a:ea typeface="Source Sans 3" pitchFamily="34" charset="-122"/>
                <a:cs typeface="Source Sans 3" pitchFamily="34" charset="-120"/>
              </a:rPr>
              <a:t>Point d'entrée unique avec routage dynamique, load balancing automatique et circuit breaker Resilience4J pour la résilience.</a:t>
            </a:r>
            <a:endParaRPr lang="en-US" sz="1500" dirty="0"/>
          </a:p>
        </p:txBody>
      </p:sp>
      <p:sp>
        <p:nvSpPr>
          <p:cNvPr id="33" name="ZoneTexte 32">
            <a:extLst>
              <a:ext uri="{FF2B5EF4-FFF2-40B4-BE49-F238E27FC236}">
                <a16:creationId xmlns:a16="http://schemas.microsoft.com/office/drawing/2014/main" id="{327CD5FE-6B06-1AAB-99C3-F056C4216F7C}"/>
              </a:ext>
            </a:extLst>
          </p:cNvPr>
          <p:cNvSpPr txBox="1"/>
          <p:nvPr/>
        </p:nvSpPr>
        <p:spPr>
          <a:xfrm>
            <a:off x="12804564" y="7714034"/>
            <a:ext cx="1825836" cy="515566"/>
          </a:xfrm>
          <a:prstGeom prst="rect">
            <a:avLst/>
          </a:prstGeom>
          <a:solidFill>
            <a:schemeClr val="bg1"/>
          </a:solidFill>
          <a:ln>
            <a:solidFill>
              <a:schemeClr val="bg1"/>
            </a:solidFill>
          </a:ln>
        </p:spPr>
        <p:txBody>
          <a:bodyPr wrap="square" rtlCol="0">
            <a:spAutoFit/>
          </a:bodyPr>
          <a:lstStyle/>
          <a:p>
            <a:endParaRPr lang="fr-FR" dirty="0"/>
          </a:p>
        </p:txBody>
      </p:sp>
      <p:sp>
        <p:nvSpPr>
          <p:cNvPr id="34" name="ZoneTexte 33">
            <a:extLst>
              <a:ext uri="{FF2B5EF4-FFF2-40B4-BE49-F238E27FC236}">
                <a16:creationId xmlns:a16="http://schemas.microsoft.com/office/drawing/2014/main" id="{CBC1C1FA-2A28-29D3-50F9-8E8B9639ABC2}"/>
              </a:ext>
            </a:extLst>
          </p:cNvPr>
          <p:cNvSpPr txBox="1"/>
          <p:nvPr/>
        </p:nvSpPr>
        <p:spPr>
          <a:xfrm>
            <a:off x="13861915" y="7714034"/>
            <a:ext cx="573932" cy="369332"/>
          </a:xfrm>
          <a:prstGeom prst="rect">
            <a:avLst/>
          </a:prstGeom>
          <a:noFill/>
        </p:spPr>
        <p:txBody>
          <a:bodyPr wrap="square" rtlCol="0">
            <a:spAutoFit/>
          </a:bodyPr>
          <a:lstStyle/>
          <a:p>
            <a:r>
              <a:rPr lang="fr-FR" dirty="0"/>
              <a:t>   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C1ED7-334F-42B9-8C6A-83C423423FB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3980D6C-B321-109E-0C3A-3308479BF7E5}"/>
              </a:ext>
            </a:extLst>
          </p:cNvPr>
          <p:cNvSpPr/>
          <p:nvPr/>
        </p:nvSpPr>
        <p:spPr>
          <a:xfrm>
            <a:off x="1087385" y="511250"/>
            <a:ext cx="11717179" cy="552093"/>
          </a:xfrm>
          <a:prstGeom prst="rect">
            <a:avLst/>
          </a:prstGeom>
          <a:noFill/>
          <a:ln/>
        </p:spPr>
        <p:txBody>
          <a:bodyPr wrap="none" lIns="0" tIns="0" rIns="0" bIns="0" rtlCol="0" anchor="t"/>
          <a:lstStyle/>
          <a:p>
            <a:pPr>
              <a:lnSpc>
                <a:spcPts val="4300"/>
              </a:lnSpc>
            </a:pPr>
            <a:r>
              <a:rPr lang="en-US" sz="3450" b="1" dirty="0">
                <a:solidFill>
                  <a:srgbClr val="000000"/>
                </a:solidFill>
                <a:latin typeface="Montserrat Bold" pitchFamily="34" charset="0"/>
                <a:ea typeface="Montserrat Bold" pitchFamily="34" charset="-122"/>
              </a:rPr>
              <a:t>Conception de </a:t>
            </a:r>
            <a:r>
              <a:rPr lang="en-US" sz="3600" b="1" dirty="0">
                <a:solidFill>
                  <a:srgbClr val="000000"/>
                </a:solidFill>
                <a:latin typeface="Montserrat Bold" pitchFamily="34" charset="0"/>
                <a:ea typeface="Montserrat Bold" pitchFamily="34" charset="-122"/>
                <a:cs typeface="Montserrat Bold" pitchFamily="34" charset="-120"/>
              </a:rPr>
              <a:t>Architecture</a:t>
            </a:r>
            <a:endParaRPr lang="en-US" sz="3600" dirty="0"/>
          </a:p>
          <a:p>
            <a:pPr marL="0" indent="0" algn="l">
              <a:lnSpc>
                <a:spcPts val="4300"/>
              </a:lnSpc>
              <a:buNone/>
            </a:pPr>
            <a:endParaRPr lang="en-US" sz="3450" dirty="0"/>
          </a:p>
        </p:txBody>
      </p:sp>
      <p:sp>
        <p:nvSpPr>
          <p:cNvPr id="35" name="ZoneTexte 34">
            <a:extLst>
              <a:ext uri="{FF2B5EF4-FFF2-40B4-BE49-F238E27FC236}">
                <a16:creationId xmlns:a16="http://schemas.microsoft.com/office/drawing/2014/main" id="{BB9292D4-D2D9-D475-0DFB-B557F2C962E5}"/>
              </a:ext>
            </a:extLst>
          </p:cNvPr>
          <p:cNvSpPr txBox="1"/>
          <p:nvPr/>
        </p:nvSpPr>
        <p:spPr>
          <a:xfrm>
            <a:off x="12804564" y="7714034"/>
            <a:ext cx="1825836" cy="515566"/>
          </a:xfrm>
          <a:prstGeom prst="rect">
            <a:avLst/>
          </a:prstGeom>
          <a:solidFill>
            <a:schemeClr val="bg1"/>
          </a:solidFill>
          <a:ln>
            <a:solidFill>
              <a:schemeClr val="bg1"/>
            </a:solidFill>
          </a:ln>
        </p:spPr>
        <p:txBody>
          <a:bodyPr wrap="square" rtlCol="0">
            <a:spAutoFit/>
          </a:bodyPr>
          <a:lstStyle/>
          <a:p>
            <a:endParaRPr lang="fr-FR" dirty="0"/>
          </a:p>
        </p:txBody>
      </p:sp>
      <p:sp>
        <p:nvSpPr>
          <p:cNvPr id="37" name="ZoneTexte 36">
            <a:extLst>
              <a:ext uri="{FF2B5EF4-FFF2-40B4-BE49-F238E27FC236}">
                <a16:creationId xmlns:a16="http://schemas.microsoft.com/office/drawing/2014/main" id="{8838DD64-9B90-D31F-5DBC-61E8333BECD4}"/>
              </a:ext>
            </a:extLst>
          </p:cNvPr>
          <p:cNvSpPr txBox="1"/>
          <p:nvPr/>
        </p:nvSpPr>
        <p:spPr>
          <a:xfrm>
            <a:off x="13861915" y="7714034"/>
            <a:ext cx="573932" cy="369332"/>
          </a:xfrm>
          <a:prstGeom prst="rect">
            <a:avLst/>
          </a:prstGeom>
          <a:noFill/>
        </p:spPr>
        <p:txBody>
          <a:bodyPr wrap="square" rtlCol="0">
            <a:spAutoFit/>
          </a:bodyPr>
          <a:lstStyle/>
          <a:p>
            <a:r>
              <a:rPr lang="fr-FR" dirty="0"/>
              <a:t>   5</a:t>
            </a:r>
          </a:p>
        </p:txBody>
      </p:sp>
      <p:pic>
        <p:nvPicPr>
          <p:cNvPr id="6" name="Image 5" descr="Une image contenant texte, nombre, capture d’écran, diagramme&#10;&#10;Le contenu généré par l’IA peut être incorrect.">
            <a:extLst>
              <a:ext uri="{FF2B5EF4-FFF2-40B4-BE49-F238E27FC236}">
                <a16:creationId xmlns:a16="http://schemas.microsoft.com/office/drawing/2014/main" id="{8A5CAF36-E397-8EF6-85E9-17472189F7EB}"/>
              </a:ext>
            </a:extLst>
          </p:cNvPr>
          <p:cNvPicPr>
            <a:picLocks noChangeAspect="1"/>
          </p:cNvPicPr>
          <p:nvPr/>
        </p:nvPicPr>
        <p:blipFill>
          <a:blip r:embed="rId3"/>
          <a:stretch>
            <a:fillRect/>
          </a:stretch>
        </p:blipFill>
        <p:spPr>
          <a:xfrm>
            <a:off x="1692215" y="1201567"/>
            <a:ext cx="11245970" cy="6512467"/>
          </a:xfrm>
          <a:prstGeom prst="rect">
            <a:avLst/>
          </a:prstGeom>
          <a:ln>
            <a:solidFill>
              <a:schemeClr val="tx1"/>
            </a:solidFill>
          </a:ln>
        </p:spPr>
      </p:pic>
    </p:spTree>
    <p:extLst>
      <p:ext uri="{BB962C8B-B14F-4D97-AF65-F5344CB8AC3E}">
        <p14:creationId xmlns:p14="http://schemas.microsoft.com/office/powerpoint/2010/main" val="1616631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63084" y="594241"/>
            <a:ext cx="10787182" cy="521017"/>
          </a:xfrm>
          <a:prstGeom prst="rect">
            <a:avLst/>
          </a:prstGeom>
          <a:noFill/>
          <a:ln/>
        </p:spPr>
        <p:txBody>
          <a:bodyPr wrap="none" lIns="0" tIns="0" rIns="0" bIns="0" rtlCol="0" anchor="t"/>
          <a:lstStyle/>
          <a:p>
            <a:pPr marL="0" indent="0" algn="l">
              <a:lnSpc>
                <a:spcPts val="4100"/>
              </a:lnSpc>
              <a:buNone/>
            </a:pPr>
            <a:r>
              <a:rPr lang="en-US" sz="3250" b="1" dirty="0">
                <a:solidFill>
                  <a:srgbClr val="000000"/>
                </a:solidFill>
                <a:latin typeface="Montserrat Bold" pitchFamily="34" charset="0"/>
                <a:ea typeface="Montserrat Bold" pitchFamily="34" charset="-122"/>
                <a:cs typeface="Montserrat Bold" pitchFamily="34" charset="-120"/>
              </a:rPr>
              <a:t>Frontend Next.js : Architecture et Fonctionnalités</a:t>
            </a:r>
            <a:endParaRPr lang="en-US" sz="3250" dirty="0"/>
          </a:p>
        </p:txBody>
      </p:sp>
      <p:sp>
        <p:nvSpPr>
          <p:cNvPr id="3" name="Text 1"/>
          <p:cNvSpPr/>
          <p:nvPr/>
        </p:nvSpPr>
        <p:spPr>
          <a:xfrm>
            <a:off x="863084" y="1573649"/>
            <a:ext cx="3345775" cy="312658"/>
          </a:xfrm>
          <a:prstGeom prst="rect">
            <a:avLst/>
          </a:prstGeom>
          <a:noFill/>
          <a:ln/>
        </p:spPr>
        <p:txBody>
          <a:bodyPr wrap="none" lIns="0" tIns="0" rIns="0" bIns="0" rtlCol="0" anchor="t"/>
          <a:lstStyle/>
          <a:p>
            <a:pPr marL="0" indent="0" algn="l">
              <a:lnSpc>
                <a:spcPts val="2450"/>
              </a:lnSpc>
              <a:buNone/>
            </a:pPr>
            <a:r>
              <a:rPr lang="en-US" sz="1950" b="1" dirty="0">
                <a:solidFill>
                  <a:srgbClr val="000000"/>
                </a:solidFill>
                <a:latin typeface="Montserrat Bold" pitchFamily="34" charset="0"/>
                <a:ea typeface="Montserrat Bold" pitchFamily="34" charset="-122"/>
                <a:cs typeface="Montserrat Bold" pitchFamily="34" charset="-120"/>
              </a:rPr>
              <a:t>Structure de l'Application</a:t>
            </a:r>
            <a:endParaRPr lang="en-US" sz="1950" dirty="0"/>
          </a:p>
        </p:txBody>
      </p:sp>
      <p:sp>
        <p:nvSpPr>
          <p:cNvPr id="4" name="Text 2"/>
          <p:cNvSpPr/>
          <p:nvPr/>
        </p:nvSpPr>
        <p:spPr>
          <a:xfrm>
            <a:off x="863084" y="2069663"/>
            <a:ext cx="6895981" cy="825103"/>
          </a:xfrm>
          <a:prstGeom prst="rect">
            <a:avLst/>
          </a:prstGeom>
          <a:noFill/>
          <a:ln/>
        </p:spPr>
        <p:txBody>
          <a:bodyPr wrap="square" lIns="0" tIns="0" rIns="0" bIns="0" rtlCol="0" anchor="t"/>
          <a:lstStyle/>
          <a:p>
            <a:pPr marL="0" indent="0" algn="l">
              <a:lnSpc>
                <a:spcPts val="2150"/>
              </a:lnSpc>
              <a:buNone/>
            </a:pPr>
            <a:r>
              <a:rPr lang="en-US" sz="1400" dirty="0">
                <a:solidFill>
                  <a:srgbClr val="3D3838"/>
                </a:solidFill>
                <a:latin typeface="Source Sans 3" pitchFamily="34" charset="0"/>
                <a:ea typeface="Source Sans 3" pitchFamily="34" charset="-122"/>
                <a:cs typeface="Source Sans 3" pitchFamily="34" charset="-120"/>
              </a:rPr>
              <a:t>Le frontend est organisé selon l'architecture App Router de Next.js 13+, offrant une structure claire et modulaire. Les composants sont réutilisables et suivent les meilleures pratiques React.</a:t>
            </a:r>
            <a:endParaRPr lang="en-US" sz="1400" dirty="0"/>
          </a:p>
        </p:txBody>
      </p:sp>
      <p:sp>
        <p:nvSpPr>
          <p:cNvPr id="5" name="Text 3"/>
          <p:cNvSpPr/>
          <p:nvPr/>
        </p:nvSpPr>
        <p:spPr>
          <a:xfrm>
            <a:off x="863084" y="3059787"/>
            <a:ext cx="6895981" cy="275034"/>
          </a:xfrm>
          <a:prstGeom prst="rect">
            <a:avLst/>
          </a:prstGeom>
          <a:noFill/>
          <a:ln/>
        </p:spPr>
        <p:txBody>
          <a:bodyPr wrap="none" lIns="0" tIns="0" rIns="0" bIns="0" rtlCol="0" anchor="t"/>
          <a:lstStyle/>
          <a:p>
            <a:pPr marL="342900" indent="-342900" algn="l">
              <a:lnSpc>
                <a:spcPts val="2150"/>
              </a:lnSpc>
              <a:buSzPct val="100000"/>
              <a:buChar char="•"/>
            </a:pPr>
            <a:r>
              <a:rPr lang="en-US" sz="1400" b="1" dirty="0">
                <a:solidFill>
                  <a:srgbClr val="3D3838"/>
                </a:solidFill>
                <a:latin typeface="Source Sans 3" pitchFamily="34" charset="0"/>
                <a:ea typeface="Source Sans 3" pitchFamily="34" charset="-122"/>
                <a:cs typeface="Source Sans 3" pitchFamily="34" charset="-120"/>
              </a:rPr>
              <a:t>app/</a:t>
            </a:r>
            <a:r>
              <a:rPr lang="en-US" sz="1400" dirty="0">
                <a:solidFill>
                  <a:srgbClr val="3D3838"/>
                </a:solidFill>
                <a:latin typeface="Source Sans 3" pitchFamily="34" charset="0"/>
                <a:ea typeface="Source Sans 3" pitchFamily="34" charset="-122"/>
                <a:cs typeface="Source Sans 3" pitchFamily="34" charset="-120"/>
              </a:rPr>
              <a:t> - Pages avec routage automatique (produits, commandes, dashboard)</a:t>
            </a:r>
            <a:endParaRPr lang="en-US" sz="1400" dirty="0"/>
          </a:p>
        </p:txBody>
      </p:sp>
      <p:sp>
        <p:nvSpPr>
          <p:cNvPr id="6" name="Text 4"/>
          <p:cNvSpPr/>
          <p:nvPr/>
        </p:nvSpPr>
        <p:spPr>
          <a:xfrm>
            <a:off x="863084" y="3398996"/>
            <a:ext cx="6895981" cy="275034"/>
          </a:xfrm>
          <a:prstGeom prst="rect">
            <a:avLst/>
          </a:prstGeom>
          <a:noFill/>
          <a:ln/>
        </p:spPr>
        <p:txBody>
          <a:bodyPr wrap="none" lIns="0" tIns="0" rIns="0" bIns="0" rtlCol="0" anchor="t"/>
          <a:lstStyle/>
          <a:p>
            <a:pPr marL="342900" indent="-342900" algn="l">
              <a:lnSpc>
                <a:spcPts val="2150"/>
              </a:lnSpc>
              <a:buSzPct val="100000"/>
              <a:buChar char="•"/>
            </a:pPr>
            <a:r>
              <a:rPr lang="en-US" sz="1400" b="1" dirty="0">
                <a:solidFill>
                  <a:srgbClr val="3D3838"/>
                </a:solidFill>
                <a:latin typeface="Source Sans 3" pitchFamily="34" charset="0"/>
                <a:ea typeface="Source Sans 3" pitchFamily="34" charset="-122"/>
                <a:cs typeface="Source Sans 3" pitchFamily="34" charset="-120"/>
              </a:rPr>
              <a:t>components/</a:t>
            </a:r>
            <a:r>
              <a:rPr lang="en-US" sz="1400" dirty="0">
                <a:solidFill>
                  <a:srgbClr val="3D3838"/>
                </a:solidFill>
                <a:latin typeface="Source Sans 3" pitchFamily="34" charset="0"/>
                <a:ea typeface="Source Sans 3" pitchFamily="34" charset="-122"/>
                <a:cs typeface="Source Sans 3" pitchFamily="34" charset="-120"/>
              </a:rPr>
              <a:t> - Composants réutilisables incluant shadcn/ui</a:t>
            </a:r>
            <a:endParaRPr lang="en-US" sz="1400" dirty="0"/>
          </a:p>
        </p:txBody>
      </p:sp>
      <p:sp>
        <p:nvSpPr>
          <p:cNvPr id="7" name="Text 5"/>
          <p:cNvSpPr/>
          <p:nvPr/>
        </p:nvSpPr>
        <p:spPr>
          <a:xfrm>
            <a:off x="863084" y="3738205"/>
            <a:ext cx="6895981" cy="275034"/>
          </a:xfrm>
          <a:prstGeom prst="rect">
            <a:avLst/>
          </a:prstGeom>
          <a:noFill/>
          <a:ln/>
        </p:spPr>
        <p:txBody>
          <a:bodyPr wrap="none" lIns="0" tIns="0" rIns="0" bIns="0" rtlCol="0" anchor="t"/>
          <a:lstStyle/>
          <a:p>
            <a:pPr marL="342900" indent="-342900" algn="l">
              <a:lnSpc>
                <a:spcPts val="2150"/>
              </a:lnSpc>
              <a:buSzPct val="100000"/>
              <a:buChar char="•"/>
            </a:pPr>
            <a:r>
              <a:rPr lang="en-US" sz="1400" b="1" dirty="0">
                <a:solidFill>
                  <a:srgbClr val="3D3838"/>
                </a:solidFill>
                <a:latin typeface="Source Sans 3" pitchFamily="34" charset="0"/>
                <a:ea typeface="Source Sans 3" pitchFamily="34" charset="-122"/>
                <a:cs typeface="Source Sans 3" pitchFamily="34" charset="-120"/>
              </a:rPr>
              <a:t>services/</a:t>
            </a:r>
            <a:r>
              <a:rPr lang="en-US" sz="1400" dirty="0">
                <a:solidFill>
                  <a:srgbClr val="3D3838"/>
                </a:solidFill>
                <a:latin typeface="Source Sans 3" pitchFamily="34" charset="0"/>
                <a:ea typeface="Source Sans 3" pitchFamily="34" charset="-122"/>
                <a:cs typeface="Source Sans 3" pitchFamily="34" charset="-120"/>
              </a:rPr>
              <a:t> - Services API pour communication backend</a:t>
            </a:r>
            <a:endParaRPr lang="en-US" sz="1400" dirty="0"/>
          </a:p>
        </p:txBody>
      </p:sp>
      <p:sp>
        <p:nvSpPr>
          <p:cNvPr id="8" name="Text 6"/>
          <p:cNvSpPr/>
          <p:nvPr/>
        </p:nvSpPr>
        <p:spPr>
          <a:xfrm>
            <a:off x="863084" y="4077414"/>
            <a:ext cx="6895981" cy="275034"/>
          </a:xfrm>
          <a:prstGeom prst="rect">
            <a:avLst/>
          </a:prstGeom>
          <a:noFill/>
          <a:ln/>
        </p:spPr>
        <p:txBody>
          <a:bodyPr wrap="none" lIns="0" tIns="0" rIns="0" bIns="0" rtlCol="0" anchor="t"/>
          <a:lstStyle/>
          <a:p>
            <a:pPr marL="342900" indent="-342900" algn="l">
              <a:lnSpc>
                <a:spcPts val="2150"/>
              </a:lnSpc>
              <a:buSzPct val="100000"/>
              <a:buChar char="•"/>
            </a:pPr>
            <a:r>
              <a:rPr lang="en-US" sz="1400" b="1" dirty="0">
                <a:solidFill>
                  <a:srgbClr val="3D3838"/>
                </a:solidFill>
                <a:latin typeface="Source Sans 3" pitchFamily="34" charset="0"/>
                <a:ea typeface="Source Sans 3" pitchFamily="34" charset="-122"/>
                <a:cs typeface="Source Sans 3" pitchFamily="34" charset="-120"/>
              </a:rPr>
              <a:t>hooks/</a:t>
            </a:r>
            <a:r>
              <a:rPr lang="en-US" sz="1400" dirty="0">
                <a:solidFill>
                  <a:srgbClr val="3D3838"/>
                </a:solidFill>
                <a:latin typeface="Source Sans 3" pitchFamily="34" charset="0"/>
                <a:ea typeface="Source Sans 3" pitchFamily="34" charset="-122"/>
                <a:cs typeface="Source Sans 3" pitchFamily="34" charset="-120"/>
              </a:rPr>
              <a:t> - Hooks React personnalisés pour logique métier</a:t>
            </a:r>
            <a:endParaRPr lang="en-US" sz="1400" dirty="0"/>
          </a:p>
        </p:txBody>
      </p:sp>
      <p:sp>
        <p:nvSpPr>
          <p:cNvPr id="9" name="Text 7"/>
          <p:cNvSpPr/>
          <p:nvPr/>
        </p:nvSpPr>
        <p:spPr>
          <a:xfrm>
            <a:off x="863084" y="4416623"/>
            <a:ext cx="6895981" cy="275034"/>
          </a:xfrm>
          <a:prstGeom prst="rect">
            <a:avLst/>
          </a:prstGeom>
          <a:noFill/>
          <a:ln/>
        </p:spPr>
        <p:txBody>
          <a:bodyPr wrap="none" lIns="0" tIns="0" rIns="0" bIns="0" rtlCol="0" anchor="t"/>
          <a:lstStyle/>
          <a:p>
            <a:pPr marL="342900" indent="-342900" algn="l">
              <a:lnSpc>
                <a:spcPts val="2150"/>
              </a:lnSpc>
              <a:buSzPct val="100000"/>
              <a:buChar char="•"/>
            </a:pPr>
            <a:r>
              <a:rPr lang="en-US" sz="1400" b="1" dirty="0">
                <a:solidFill>
                  <a:srgbClr val="3D3838"/>
                </a:solidFill>
                <a:latin typeface="Source Sans 3" pitchFamily="34" charset="0"/>
                <a:ea typeface="Source Sans 3" pitchFamily="34" charset="-122"/>
                <a:cs typeface="Source Sans 3" pitchFamily="34" charset="-120"/>
              </a:rPr>
              <a:t>lib/</a:t>
            </a:r>
            <a:r>
              <a:rPr lang="en-US" sz="1400" dirty="0">
                <a:solidFill>
                  <a:srgbClr val="3D3838"/>
                </a:solidFill>
                <a:latin typeface="Source Sans 3" pitchFamily="34" charset="0"/>
                <a:ea typeface="Source Sans 3" pitchFamily="34" charset="-122"/>
                <a:cs typeface="Source Sans 3" pitchFamily="34" charset="-120"/>
              </a:rPr>
              <a:t> - Utilitaires et configurations partagées</a:t>
            </a:r>
            <a:endParaRPr lang="en-US" sz="1400" dirty="0"/>
          </a:p>
        </p:txBody>
      </p:sp>
      <p:sp>
        <p:nvSpPr>
          <p:cNvPr id="10" name="Text 8"/>
          <p:cNvSpPr/>
          <p:nvPr/>
        </p:nvSpPr>
        <p:spPr>
          <a:xfrm>
            <a:off x="8214122" y="1573649"/>
            <a:ext cx="2654379" cy="312658"/>
          </a:xfrm>
          <a:prstGeom prst="rect">
            <a:avLst/>
          </a:prstGeom>
          <a:noFill/>
          <a:ln/>
        </p:spPr>
        <p:txBody>
          <a:bodyPr wrap="none" lIns="0" tIns="0" rIns="0" bIns="0" rtlCol="0" anchor="t"/>
          <a:lstStyle/>
          <a:p>
            <a:pPr marL="0" indent="0" algn="l">
              <a:lnSpc>
                <a:spcPts val="2450"/>
              </a:lnSpc>
              <a:buNone/>
            </a:pPr>
            <a:r>
              <a:rPr lang="en-US" sz="1950" b="1" dirty="0">
                <a:solidFill>
                  <a:srgbClr val="000000"/>
                </a:solidFill>
                <a:latin typeface="Montserrat Bold" pitchFamily="34" charset="0"/>
                <a:ea typeface="Montserrat Bold" pitchFamily="34" charset="-122"/>
                <a:cs typeface="Montserrat Bold" pitchFamily="34" charset="-120"/>
              </a:rPr>
              <a:t>Fonctionnalités Clés</a:t>
            </a:r>
            <a:endParaRPr lang="en-US" sz="1950" dirty="0"/>
          </a:p>
        </p:txBody>
      </p:sp>
      <p:sp>
        <p:nvSpPr>
          <p:cNvPr id="11" name="Shape 9"/>
          <p:cNvSpPr/>
          <p:nvPr/>
        </p:nvSpPr>
        <p:spPr>
          <a:xfrm>
            <a:off x="8214122" y="2190036"/>
            <a:ext cx="91678" cy="91678"/>
          </a:xfrm>
          <a:prstGeom prst="roundRect">
            <a:avLst>
              <a:gd name="adj" fmla="val 498702"/>
            </a:avLst>
          </a:prstGeom>
          <a:solidFill>
            <a:srgbClr val="2D2E34"/>
          </a:solidFill>
          <a:ln/>
        </p:spPr>
        <p:txBody>
          <a:bodyPr/>
          <a:lstStyle/>
          <a:p>
            <a:endParaRPr lang="fr-FR"/>
          </a:p>
        </p:txBody>
      </p:sp>
      <p:sp>
        <p:nvSpPr>
          <p:cNvPr id="12" name="Text 10"/>
          <p:cNvSpPr/>
          <p:nvPr/>
        </p:nvSpPr>
        <p:spPr>
          <a:xfrm>
            <a:off x="8489156" y="2092643"/>
            <a:ext cx="2248495" cy="260509"/>
          </a:xfrm>
          <a:prstGeom prst="rect">
            <a:avLst/>
          </a:prstGeom>
          <a:noFill/>
          <a:ln/>
        </p:spPr>
        <p:txBody>
          <a:bodyPr wrap="none" lIns="0" tIns="0" rIns="0" bIns="0" rtlCol="0" anchor="t"/>
          <a:lstStyle/>
          <a:p>
            <a:pPr marL="0" indent="0" algn="l">
              <a:lnSpc>
                <a:spcPts val="2050"/>
              </a:lnSpc>
              <a:buNone/>
            </a:pPr>
            <a:r>
              <a:rPr lang="en-US" sz="1600" b="1" dirty="0">
                <a:solidFill>
                  <a:srgbClr val="3D3838"/>
                </a:solidFill>
                <a:latin typeface="Montserrat Bold" pitchFamily="34" charset="0"/>
                <a:ea typeface="Montserrat Bold" pitchFamily="34" charset="-122"/>
                <a:cs typeface="Montserrat Bold" pitchFamily="34" charset="-120"/>
              </a:rPr>
              <a:t>Dashboard interactif</a:t>
            </a:r>
            <a:endParaRPr lang="en-US" sz="1600" dirty="0"/>
          </a:p>
        </p:txBody>
      </p:sp>
      <p:sp>
        <p:nvSpPr>
          <p:cNvPr id="13" name="Text 11"/>
          <p:cNvSpPr/>
          <p:nvPr/>
        </p:nvSpPr>
        <p:spPr>
          <a:xfrm>
            <a:off x="8489156" y="2536508"/>
            <a:ext cx="5285780" cy="275034"/>
          </a:xfrm>
          <a:prstGeom prst="rect">
            <a:avLst/>
          </a:prstGeom>
          <a:noFill/>
          <a:ln/>
        </p:spPr>
        <p:txBody>
          <a:bodyPr wrap="none" lIns="0" tIns="0" rIns="0" bIns="0" rtlCol="0" anchor="t"/>
          <a:lstStyle/>
          <a:p>
            <a:pPr marL="0" indent="0" algn="l">
              <a:lnSpc>
                <a:spcPts val="2150"/>
              </a:lnSpc>
              <a:buNone/>
            </a:pPr>
            <a:r>
              <a:rPr lang="en-US" sz="1400" dirty="0">
                <a:solidFill>
                  <a:srgbClr val="3D3838"/>
                </a:solidFill>
                <a:latin typeface="Source Sans 3" pitchFamily="34" charset="0"/>
                <a:ea typeface="Source Sans 3" pitchFamily="34" charset="-122"/>
                <a:cs typeface="Source Sans 3" pitchFamily="34" charset="-120"/>
              </a:rPr>
              <a:t>Vue d'ensemble avec graphiques et statistiques en temps réel</a:t>
            </a:r>
            <a:endParaRPr lang="en-US" sz="1400" dirty="0"/>
          </a:p>
        </p:txBody>
      </p:sp>
      <p:sp>
        <p:nvSpPr>
          <p:cNvPr id="14" name="Shape 12"/>
          <p:cNvSpPr/>
          <p:nvPr/>
        </p:nvSpPr>
        <p:spPr>
          <a:xfrm>
            <a:off x="8214122" y="3275648"/>
            <a:ext cx="91678" cy="91678"/>
          </a:xfrm>
          <a:prstGeom prst="roundRect">
            <a:avLst>
              <a:gd name="adj" fmla="val 498702"/>
            </a:avLst>
          </a:prstGeom>
          <a:solidFill>
            <a:srgbClr val="2D2E34"/>
          </a:solidFill>
          <a:ln/>
        </p:spPr>
        <p:txBody>
          <a:bodyPr/>
          <a:lstStyle/>
          <a:p>
            <a:endParaRPr lang="fr-FR"/>
          </a:p>
        </p:txBody>
      </p:sp>
      <p:sp>
        <p:nvSpPr>
          <p:cNvPr id="15" name="Text 13"/>
          <p:cNvSpPr/>
          <p:nvPr/>
        </p:nvSpPr>
        <p:spPr>
          <a:xfrm>
            <a:off x="8489156" y="3178254"/>
            <a:ext cx="2260283" cy="260509"/>
          </a:xfrm>
          <a:prstGeom prst="rect">
            <a:avLst/>
          </a:prstGeom>
          <a:noFill/>
          <a:ln/>
        </p:spPr>
        <p:txBody>
          <a:bodyPr wrap="none" lIns="0" tIns="0" rIns="0" bIns="0" rtlCol="0" anchor="t"/>
          <a:lstStyle/>
          <a:p>
            <a:pPr marL="0" indent="0" algn="l">
              <a:lnSpc>
                <a:spcPts val="2050"/>
              </a:lnSpc>
              <a:buNone/>
            </a:pPr>
            <a:r>
              <a:rPr lang="en-US" sz="1600" b="1" dirty="0">
                <a:solidFill>
                  <a:srgbClr val="3D3838"/>
                </a:solidFill>
                <a:latin typeface="Montserrat Bold" pitchFamily="34" charset="0"/>
                <a:ea typeface="Montserrat Bold" pitchFamily="34" charset="-122"/>
                <a:cs typeface="Montserrat Bold" pitchFamily="34" charset="-120"/>
              </a:rPr>
              <a:t>Gestion des produits</a:t>
            </a:r>
            <a:endParaRPr lang="en-US" sz="1600" dirty="0"/>
          </a:p>
        </p:txBody>
      </p:sp>
      <p:sp>
        <p:nvSpPr>
          <p:cNvPr id="16" name="Text 14"/>
          <p:cNvSpPr/>
          <p:nvPr/>
        </p:nvSpPr>
        <p:spPr>
          <a:xfrm>
            <a:off x="8489156" y="3622119"/>
            <a:ext cx="5285780" cy="550069"/>
          </a:xfrm>
          <a:prstGeom prst="rect">
            <a:avLst/>
          </a:prstGeom>
          <a:noFill/>
          <a:ln/>
        </p:spPr>
        <p:txBody>
          <a:bodyPr wrap="square" lIns="0" tIns="0" rIns="0" bIns="0" rtlCol="0" anchor="t"/>
          <a:lstStyle/>
          <a:p>
            <a:pPr marL="0" indent="0" algn="l">
              <a:lnSpc>
                <a:spcPts val="2150"/>
              </a:lnSpc>
              <a:buNone/>
            </a:pPr>
            <a:r>
              <a:rPr lang="en-US" sz="1400" dirty="0">
                <a:solidFill>
                  <a:srgbClr val="3D3838"/>
                </a:solidFill>
                <a:latin typeface="Source Sans 3" pitchFamily="34" charset="0"/>
                <a:ea typeface="Source Sans 3" pitchFamily="34" charset="-122"/>
                <a:cs typeface="Source Sans 3" pitchFamily="34" charset="-120"/>
              </a:rPr>
              <a:t>Liste paginée avec formulaires de création/édition et calcul automatique</a:t>
            </a:r>
            <a:endParaRPr lang="en-US" sz="1400" dirty="0"/>
          </a:p>
        </p:txBody>
      </p:sp>
      <p:sp>
        <p:nvSpPr>
          <p:cNvPr id="17" name="Shape 15"/>
          <p:cNvSpPr/>
          <p:nvPr/>
        </p:nvSpPr>
        <p:spPr>
          <a:xfrm>
            <a:off x="8214122" y="4636294"/>
            <a:ext cx="91678" cy="91678"/>
          </a:xfrm>
          <a:prstGeom prst="roundRect">
            <a:avLst>
              <a:gd name="adj" fmla="val 498702"/>
            </a:avLst>
          </a:prstGeom>
          <a:solidFill>
            <a:srgbClr val="2D2E34"/>
          </a:solidFill>
          <a:ln/>
        </p:spPr>
        <p:txBody>
          <a:bodyPr/>
          <a:lstStyle/>
          <a:p>
            <a:endParaRPr lang="fr-FR"/>
          </a:p>
        </p:txBody>
      </p:sp>
      <p:sp>
        <p:nvSpPr>
          <p:cNvPr id="18" name="Text 16"/>
          <p:cNvSpPr/>
          <p:nvPr/>
        </p:nvSpPr>
        <p:spPr>
          <a:xfrm>
            <a:off x="8489156" y="4538901"/>
            <a:ext cx="2695813" cy="260509"/>
          </a:xfrm>
          <a:prstGeom prst="rect">
            <a:avLst/>
          </a:prstGeom>
          <a:noFill/>
          <a:ln/>
        </p:spPr>
        <p:txBody>
          <a:bodyPr wrap="none" lIns="0" tIns="0" rIns="0" bIns="0" rtlCol="0" anchor="t"/>
          <a:lstStyle/>
          <a:p>
            <a:pPr marL="0" indent="0" algn="l">
              <a:lnSpc>
                <a:spcPts val="2050"/>
              </a:lnSpc>
              <a:buNone/>
            </a:pPr>
            <a:r>
              <a:rPr lang="en-US" sz="1600" b="1" dirty="0">
                <a:solidFill>
                  <a:srgbClr val="3D3838"/>
                </a:solidFill>
                <a:latin typeface="Montserrat Bold" pitchFamily="34" charset="0"/>
                <a:ea typeface="Montserrat Bold" pitchFamily="34" charset="-122"/>
                <a:cs typeface="Montserrat Bold" pitchFamily="34" charset="-120"/>
              </a:rPr>
              <a:t>Gestion des commandes</a:t>
            </a:r>
            <a:endParaRPr lang="en-US" sz="1600" dirty="0"/>
          </a:p>
        </p:txBody>
      </p:sp>
      <p:sp>
        <p:nvSpPr>
          <p:cNvPr id="19" name="Text 17"/>
          <p:cNvSpPr/>
          <p:nvPr/>
        </p:nvSpPr>
        <p:spPr>
          <a:xfrm>
            <a:off x="8489156" y="4982766"/>
            <a:ext cx="5285780" cy="275034"/>
          </a:xfrm>
          <a:prstGeom prst="rect">
            <a:avLst/>
          </a:prstGeom>
          <a:noFill/>
          <a:ln/>
        </p:spPr>
        <p:txBody>
          <a:bodyPr wrap="none" lIns="0" tIns="0" rIns="0" bIns="0" rtlCol="0" anchor="t"/>
          <a:lstStyle/>
          <a:p>
            <a:pPr marL="0" indent="0" algn="l">
              <a:lnSpc>
                <a:spcPts val="2150"/>
              </a:lnSpc>
              <a:buNone/>
            </a:pPr>
            <a:r>
              <a:rPr lang="en-US" sz="1400" dirty="0">
                <a:solidFill>
                  <a:srgbClr val="3D3838"/>
                </a:solidFill>
                <a:latin typeface="Source Sans 3" pitchFamily="34" charset="0"/>
                <a:ea typeface="Source Sans 3" pitchFamily="34" charset="-122"/>
                <a:cs typeface="Source Sans 3" pitchFamily="34" charset="-120"/>
              </a:rPr>
              <a:t>Sélection de produits avec autocomplétion et historique complet</a:t>
            </a:r>
            <a:endParaRPr lang="en-US" sz="1400" dirty="0"/>
          </a:p>
        </p:txBody>
      </p:sp>
      <p:sp>
        <p:nvSpPr>
          <p:cNvPr id="20" name="Shape 18"/>
          <p:cNvSpPr/>
          <p:nvPr/>
        </p:nvSpPr>
        <p:spPr>
          <a:xfrm>
            <a:off x="8214122" y="5721906"/>
            <a:ext cx="91678" cy="91678"/>
          </a:xfrm>
          <a:prstGeom prst="roundRect">
            <a:avLst>
              <a:gd name="adj" fmla="val 498702"/>
            </a:avLst>
          </a:prstGeom>
          <a:solidFill>
            <a:srgbClr val="2D2E34"/>
          </a:solidFill>
          <a:ln/>
        </p:spPr>
        <p:txBody>
          <a:bodyPr/>
          <a:lstStyle/>
          <a:p>
            <a:endParaRPr lang="fr-FR"/>
          </a:p>
        </p:txBody>
      </p:sp>
      <p:sp>
        <p:nvSpPr>
          <p:cNvPr id="21" name="Text 19"/>
          <p:cNvSpPr/>
          <p:nvPr/>
        </p:nvSpPr>
        <p:spPr>
          <a:xfrm>
            <a:off x="8489156" y="5624513"/>
            <a:ext cx="2084189" cy="260509"/>
          </a:xfrm>
          <a:prstGeom prst="rect">
            <a:avLst/>
          </a:prstGeom>
          <a:noFill/>
          <a:ln/>
        </p:spPr>
        <p:txBody>
          <a:bodyPr wrap="none" lIns="0" tIns="0" rIns="0" bIns="0" rtlCol="0" anchor="t"/>
          <a:lstStyle/>
          <a:p>
            <a:pPr marL="0" indent="0" algn="l">
              <a:lnSpc>
                <a:spcPts val="2050"/>
              </a:lnSpc>
              <a:buNone/>
            </a:pPr>
            <a:r>
              <a:rPr lang="en-US" sz="1600" b="1" dirty="0">
                <a:solidFill>
                  <a:srgbClr val="3D3838"/>
                </a:solidFill>
                <a:latin typeface="Montserrat Bold" pitchFamily="34" charset="0"/>
                <a:ea typeface="Montserrat Bold" pitchFamily="34" charset="-122"/>
                <a:cs typeface="Montserrat Bold" pitchFamily="34" charset="-120"/>
              </a:rPr>
              <a:t>Design responsive</a:t>
            </a:r>
            <a:endParaRPr lang="en-US" sz="1600" dirty="0"/>
          </a:p>
        </p:txBody>
      </p:sp>
      <p:sp>
        <p:nvSpPr>
          <p:cNvPr id="22" name="Text 20"/>
          <p:cNvSpPr/>
          <p:nvPr/>
        </p:nvSpPr>
        <p:spPr>
          <a:xfrm>
            <a:off x="8489156" y="6068378"/>
            <a:ext cx="5285780" cy="275034"/>
          </a:xfrm>
          <a:prstGeom prst="rect">
            <a:avLst/>
          </a:prstGeom>
          <a:noFill/>
          <a:ln/>
        </p:spPr>
        <p:txBody>
          <a:bodyPr wrap="none" lIns="0" tIns="0" rIns="0" bIns="0" rtlCol="0" anchor="t"/>
          <a:lstStyle/>
          <a:p>
            <a:pPr marL="0" indent="0" algn="l">
              <a:lnSpc>
                <a:spcPts val="2150"/>
              </a:lnSpc>
              <a:buNone/>
            </a:pPr>
            <a:r>
              <a:rPr lang="en-US" sz="1400" dirty="0">
                <a:solidFill>
                  <a:srgbClr val="3D3838"/>
                </a:solidFill>
                <a:latin typeface="Source Sans 3" pitchFamily="34" charset="0"/>
                <a:ea typeface="Source Sans 3" pitchFamily="34" charset="-122"/>
                <a:cs typeface="Source Sans 3" pitchFamily="34" charset="-120"/>
              </a:rPr>
              <a:t>Interface adaptative mobile/desktop avec mode sombre/clair</a:t>
            </a:r>
            <a:endParaRPr lang="en-US" sz="1400" dirty="0"/>
          </a:p>
        </p:txBody>
      </p:sp>
      <p:sp>
        <p:nvSpPr>
          <p:cNvPr id="23" name="Shape 21"/>
          <p:cNvSpPr/>
          <p:nvPr/>
        </p:nvSpPr>
        <p:spPr>
          <a:xfrm>
            <a:off x="8214122" y="6807517"/>
            <a:ext cx="91678" cy="91678"/>
          </a:xfrm>
          <a:prstGeom prst="roundRect">
            <a:avLst>
              <a:gd name="adj" fmla="val 498702"/>
            </a:avLst>
          </a:prstGeom>
          <a:solidFill>
            <a:srgbClr val="2D2E34"/>
          </a:solidFill>
          <a:ln/>
        </p:spPr>
        <p:txBody>
          <a:bodyPr/>
          <a:lstStyle/>
          <a:p>
            <a:endParaRPr lang="fr-FR"/>
          </a:p>
        </p:txBody>
      </p:sp>
      <p:sp>
        <p:nvSpPr>
          <p:cNvPr id="24" name="Text 22"/>
          <p:cNvSpPr/>
          <p:nvPr/>
        </p:nvSpPr>
        <p:spPr>
          <a:xfrm>
            <a:off x="8489156" y="6710124"/>
            <a:ext cx="2441258" cy="260509"/>
          </a:xfrm>
          <a:prstGeom prst="rect">
            <a:avLst/>
          </a:prstGeom>
          <a:noFill/>
          <a:ln/>
        </p:spPr>
        <p:txBody>
          <a:bodyPr wrap="none" lIns="0" tIns="0" rIns="0" bIns="0" rtlCol="0" anchor="t"/>
          <a:lstStyle/>
          <a:p>
            <a:pPr marL="0" indent="0" algn="l">
              <a:lnSpc>
                <a:spcPts val="2050"/>
              </a:lnSpc>
              <a:buNone/>
            </a:pPr>
            <a:r>
              <a:rPr lang="en-US" sz="1600" b="1" dirty="0">
                <a:solidFill>
                  <a:srgbClr val="3D3838"/>
                </a:solidFill>
                <a:latin typeface="Montserrat Bold" pitchFamily="34" charset="0"/>
                <a:ea typeface="Montserrat Bold" pitchFamily="34" charset="-122"/>
                <a:cs typeface="Montserrat Bold" pitchFamily="34" charset="-120"/>
              </a:rPr>
              <a:t>Export et notifications</a:t>
            </a:r>
            <a:endParaRPr lang="en-US" sz="1600" dirty="0"/>
          </a:p>
        </p:txBody>
      </p:sp>
      <p:sp>
        <p:nvSpPr>
          <p:cNvPr id="25" name="Text 23"/>
          <p:cNvSpPr/>
          <p:nvPr/>
        </p:nvSpPr>
        <p:spPr>
          <a:xfrm>
            <a:off x="8489156" y="7153989"/>
            <a:ext cx="5285780" cy="275034"/>
          </a:xfrm>
          <a:prstGeom prst="rect">
            <a:avLst/>
          </a:prstGeom>
          <a:noFill/>
          <a:ln/>
        </p:spPr>
        <p:txBody>
          <a:bodyPr wrap="none" lIns="0" tIns="0" rIns="0" bIns="0" rtlCol="0" anchor="t"/>
          <a:lstStyle/>
          <a:p>
            <a:pPr marL="0" indent="0" algn="l">
              <a:lnSpc>
                <a:spcPts val="2150"/>
              </a:lnSpc>
              <a:buNone/>
            </a:pPr>
            <a:r>
              <a:rPr lang="en-US" sz="1400" dirty="0">
                <a:solidFill>
                  <a:srgbClr val="3D3838"/>
                </a:solidFill>
                <a:latin typeface="Source Sans 3" pitchFamily="34" charset="0"/>
                <a:ea typeface="Source Sans 3" pitchFamily="34" charset="-122"/>
                <a:cs typeface="Source Sans 3" pitchFamily="34" charset="-120"/>
              </a:rPr>
              <a:t>Export PDF/Excel et système de notifications toast</a:t>
            </a:r>
            <a:endParaRPr lang="en-US" sz="1400" dirty="0"/>
          </a:p>
        </p:txBody>
      </p:sp>
      <p:sp>
        <p:nvSpPr>
          <p:cNvPr id="26" name="ZoneTexte 25">
            <a:extLst>
              <a:ext uri="{FF2B5EF4-FFF2-40B4-BE49-F238E27FC236}">
                <a16:creationId xmlns:a16="http://schemas.microsoft.com/office/drawing/2014/main" id="{83B13980-832A-5A49-F2A0-2DC59ED15F48}"/>
              </a:ext>
            </a:extLst>
          </p:cNvPr>
          <p:cNvSpPr txBox="1"/>
          <p:nvPr/>
        </p:nvSpPr>
        <p:spPr>
          <a:xfrm>
            <a:off x="12804564" y="7714034"/>
            <a:ext cx="1825836" cy="515566"/>
          </a:xfrm>
          <a:prstGeom prst="rect">
            <a:avLst/>
          </a:prstGeom>
          <a:solidFill>
            <a:schemeClr val="bg1"/>
          </a:solidFill>
          <a:ln>
            <a:solidFill>
              <a:schemeClr val="bg1"/>
            </a:solidFill>
          </a:ln>
        </p:spPr>
        <p:txBody>
          <a:bodyPr wrap="square" rtlCol="0">
            <a:spAutoFit/>
          </a:bodyPr>
          <a:lstStyle/>
          <a:p>
            <a:endParaRPr lang="fr-FR" dirty="0"/>
          </a:p>
        </p:txBody>
      </p:sp>
      <p:sp>
        <p:nvSpPr>
          <p:cNvPr id="27" name="ZoneTexte 26">
            <a:extLst>
              <a:ext uri="{FF2B5EF4-FFF2-40B4-BE49-F238E27FC236}">
                <a16:creationId xmlns:a16="http://schemas.microsoft.com/office/drawing/2014/main" id="{0618CEDE-0D7A-5808-F853-503FA1890007}"/>
              </a:ext>
            </a:extLst>
          </p:cNvPr>
          <p:cNvSpPr txBox="1"/>
          <p:nvPr/>
        </p:nvSpPr>
        <p:spPr>
          <a:xfrm>
            <a:off x="13861915" y="7714034"/>
            <a:ext cx="573932" cy="369332"/>
          </a:xfrm>
          <a:prstGeom prst="rect">
            <a:avLst/>
          </a:prstGeom>
          <a:noFill/>
        </p:spPr>
        <p:txBody>
          <a:bodyPr wrap="square" rtlCol="0">
            <a:spAutoFit/>
          </a:bodyPr>
          <a:lstStyle/>
          <a:p>
            <a:r>
              <a:rPr lang="fr-FR" dirty="0"/>
              <a:t>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63798" y="650081"/>
            <a:ext cx="7734538" cy="429458"/>
          </a:xfrm>
          <a:prstGeom prst="rect">
            <a:avLst/>
          </a:prstGeom>
          <a:noFill/>
          <a:ln/>
        </p:spPr>
        <p:txBody>
          <a:bodyPr wrap="none" lIns="0" tIns="0" rIns="0" bIns="0" rtlCol="0" anchor="t"/>
          <a:lstStyle/>
          <a:p>
            <a:pPr marL="0" indent="0" algn="l">
              <a:lnSpc>
                <a:spcPts val="3350"/>
              </a:lnSpc>
              <a:buNone/>
            </a:pPr>
            <a:r>
              <a:rPr lang="en-US" sz="2700" b="1" dirty="0">
                <a:solidFill>
                  <a:srgbClr val="000000"/>
                </a:solidFill>
                <a:latin typeface="Montserrat Bold" pitchFamily="34" charset="0"/>
                <a:ea typeface="Montserrat Bold" pitchFamily="34" charset="-122"/>
                <a:cs typeface="Montserrat Bold" pitchFamily="34" charset="-120"/>
              </a:rPr>
              <a:t>Installation et Démarrage : Guide Pas à Pas</a:t>
            </a:r>
            <a:endParaRPr lang="en-US" sz="2700" dirty="0"/>
          </a:p>
        </p:txBody>
      </p:sp>
      <p:sp>
        <p:nvSpPr>
          <p:cNvPr id="3" name="Shape 1"/>
          <p:cNvSpPr/>
          <p:nvPr/>
        </p:nvSpPr>
        <p:spPr>
          <a:xfrm>
            <a:off x="1015008" y="1608534"/>
            <a:ext cx="151090" cy="680204"/>
          </a:xfrm>
          <a:prstGeom prst="roundRect">
            <a:avLst>
              <a:gd name="adj" fmla="val 15009"/>
            </a:avLst>
          </a:prstGeom>
          <a:solidFill>
            <a:srgbClr val="F2EEEE"/>
          </a:solidFill>
          <a:ln/>
        </p:spPr>
        <p:txBody>
          <a:bodyPr/>
          <a:lstStyle/>
          <a:p>
            <a:endParaRPr lang="fr-FR"/>
          </a:p>
        </p:txBody>
      </p:sp>
      <p:sp>
        <p:nvSpPr>
          <p:cNvPr id="4" name="Shape 2"/>
          <p:cNvSpPr/>
          <p:nvPr/>
        </p:nvSpPr>
        <p:spPr>
          <a:xfrm>
            <a:off x="863798" y="1509355"/>
            <a:ext cx="453509" cy="453509"/>
          </a:xfrm>
          <a:prstGeom prst="roundRect">
            <a:avLst>
              <a:gd name="adj" fmla="val 100814"/>
            </a:avLst>
          </a:prstGeom>
          <a:solidFill>
            <a:srgbClr val="F2EEEE"/>
          </a:solidFill>
          <a:ln/>
        </p:spPr>
        <p:txBody>
          <a:bodyPr/>
          <a:lstStyle/>
          <a:p>
            <a:endParaRPr lang="fr-FR"/>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7146" y="1622822"/>
            <a:ext cx="226695" cy="226695"/>
          </a:xfrm>
          <a:prstGeom prst="rect">
            <a:avLst/>
          </a:prstGeom>
        </p:spPr>
      </p:pic>
      <p:sp>
        <p:nvSpPr>
          <p:cNvPr id="6" name="Text 3"/>
          <p:cNvSpPr/>
          <p:nvPr/>
        </p:nvSpPr>
        <p:spPr>
          <a:xfrm>
            <a:off x="1468398" y="1532930"/>
            <a:ext cx="1717953" cy="214670"/>
          </a:xfrm>
          <a:prstGeom prst="rect">
            <a:avLst/>
          </a:prstGeom>
          <a:noFill/>
          <a:ln/>
        </p:spPr>
        <p:txBody>
          <a:bodyPr wrap="none" lIns="0" tIns="0" rIns="0" bIns="0" rtlCol="0" anchor="t"/>
          <a:lstStyle/>
          <a:p>
            <a:pPr marL="0" indent="0" algn="l">
              <a:lnSpc>
                <a:spcPts val="1650"/>
              </a:lnSpc>
              <a:buNone/>
            </a:pPr>
            <a:r>
              <a:rPr lang="en-US" sz="1350" b="1" dirty="0">
                <a:solidFill>
                  <a:srgbClr val="3D3838"/>
                </a:solidFill>
                <a:latin typeface="Montserrat Bold" pitchFamily="34" charset="0"/>
                <a:ea typeface="Montserrat Bold" pitchFamily="34" charset="-122"/>
                <a:cs typeface="Montserrat Bold" pitchFamily="34" charset="-120"/>
              </a:rPr>
              <a:t>Prérequis système</a:t>
            </a:r>
            <a:endParaRPr lang="en-US" sz="1350" dirty="0"/>
          </a:p>
        </p:txBody>
      </p:sp>
      <p:sp>
        <p:nvSpPr>
          <p:cNvPr id="7" name="Text 4"/>
          <p:cNvSpPr/>
          <p:nvPr/>
        </p:nvSpPr>
        <p:spPr>
          <a:xfrm>
            <a:off x="1468398" y="1838206"/>
            <a:ext cx="12298204" cy="226814"/>
          </a:xfrm>
          <a:prstGeom prst="rect">
            <a:avLst/>
          </a:prstGeom>
          <a:noFill/>
          <a:ln/>
        </p:spPr>
        <p:txBody>
          <a:bodyPr wrap="none" lIns="0" tIns="0" rIns="0" bIns="0" rtlCol="0" anchor="t"/>
          <a:lstStyle/>
          <a:p>
            <a:pPr marL="0" indent="0" algn="l">
              <a:lnSpc>
                <a:spcPts val="1750"/>
              </a:lnSpc>
              <a:buNone/>
            </a:pPr>
            <a:r>
              <a:rPr lang="en-US" sz="1150" dirty="0">
                <a:solidFill>
                  <a:srgbClr val="3D3838"/>
                </a:solidFill>
                <a:latin typeface="Source Sans 3" pitchFamily="34" charset="0"/>
                <a:ea typeface="Source Sans 3" pitchFamily="34" charset="-122"/>
                <a:cs typeface="Source Sans 3" pitchFamily="34" charset="-120"/>
              </a:rPr>
              <a:t>Installer Java 17+, Node.js 18+, Maven 3.8+ et Git sur votre machine de développement</a:t>
            </a:r>
            <a:endParaRPr lang="en-US" sz="1150" dirty="0"/>
          </a:p>
        </p:txBody>
      </p:sp>
      <p:sp>
        <p:nvSpPr>
          <p:cNvPr id="8" name="Shape 5"/>
          <p:cNvSpPr/>
          <p:nvPr/>
        </p:nvSpPr>
        <p:spPr>
          <a:xfrm>
            <a:off x="1241703" y="2666643"/>
            <a:ext cx="151090" cy="680204"/>
          </a:xfrm>
          <a:prstGeom prst="roundRect">
            <a:avLst>
              <a:gd name="adj" fmla="val 15009"/>
            </a:avLst>
          </a:prstGeom>
          <a:solidFill>
            <a:srgbClr val="F2EEEE"/>
          </a:solidFill>
          <a:ln/>
        </p:spPr>
        <p:txBody>
          <a:bodyPr/>
          <a:lstStyle/>
          <a:p>
            <a:endParaRPr lang="fr-FR"/>
          </a:p>
        </p:txBody>
      </p:sp>
      <p:sp>
        <p:nvSpPr>
          <p:cNvPr id="9" name="Shape 6"/>
          <p:cNvSpPr/>
          <p:nvPr/>
        </p:nvSpPr>
        <p:spPr>
          <a:xfrm>
            <a:off x="1090493" y="2567464"/>
            <a:ext cx="453509" cy="453509"/>
          </a:xfrm>
          <a:prstGeom prst="roundRect">
            <a:avLst>
              <a:gd name="adj" fmla="val 100814"/>
            </a:avLst>
          </a:prstGeom>
          <a:solidFill>
            <a:srgbClr val="F2EEEE"/>
          </a:solidFill>
          <a:ln/>
        </p:spPr>
        <p:txBody>
          <a:bodyPr/>
          <a:lstStyle/>
          <a:p>
            <a:endParaRPr lang="fr-FR"/>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03841" y="2680930"/>
            <a:ext cx="226695" cy="226695"/>
          </a:xfrm>
          <a:prstGeom prst="rect">
            <a:avLst/>
          </a:prstGeom>
        </p:spPr>
      </p:pic>
      <p:sp>
        <p:nvSpPr>
          <p:cNvPr id="11" name="Text 7"/>
          <p:cNvSpPr/>
          <p:nvPr/>
        </p:nvSpPr>
        <p:spPr>
          <a:xfrm>
            <a:off x="1695093" y="2591038"/>
            <a:ext cx="1717953" cy="214670"/>
          </a:xfrm>
          <a:prstGeom prst="rect">
            <a:avLst/>
          </a:prstGeom>
          <a:noFill/>
          <a:ln/>
        </p:spPr>
        <p:txBody>
          <a:bodyPr wrap="none" lIns="0" tIns="0" rIns="0" bIns="0" rtlCol="0" anchor="t"/>
          <a:lstStyle/>
          <a:p>
            <a:pPr marL="0" indent="0" algn="l">
              <a:lnSpc>
                <a:spcPts val="1650"/>
              </a:lnSpc>
              <a:buNone/>
            </a:pPr>
            <a:r>
              <a:rPr lang="en-US" sz="1350" b="1" dirty="0">
                <a:solidFill>
                  <a:srgbClr val="3D3838"/>
                </a:solidFill>
                <a:latin typeface="Montserrat Bold" pitchFamily="34" charset="0"/>
                <a:ea typeface="Montserrat Bold" pitchFamily="34" charset="-122"/>
                <a:cs typeface="Montserrat Bold" pitchFamily="34" charset="-120"/>
              </a:rPr>
              <a:t>Cloner le projet</a:t>
            </a:r>
            <a:endParaRPr lang="en-US" sz="1350" dirty="0"/>
          </a:p>
        </p:txBody>
      </p:sp>
      <p:sp>
        <p:nvSpPr>
          <p:cNvPr id="12" name="Text 8"/>
          <p:cNvSpPr/>
          <p:nvPr/>
        </p:nvSpPr>
        <p:spPr>
          <a:xfrm>
            <a:off x="1695093" y="2896314"/>
            <a:ext cx="12071509" cy="226814"/>
          </a:xfrm>
          <a:prstGeom prst="rect">
            <a:avLst/>
          </a:prstGeom>
          <a:noFill/>
          <a:ln/>
        </p:spPr>
        <p:txBody>
          <a:bodyPr wrap="none" lIns="0" tIns="0" rIns="0" bIns="0" rtlCol="0" anchor="t"/>
          <a:lstStyle/>
          <a:p>
            <a:pPr marL="0" indent="0" algn="l">
              <a:lnSpc>
                <a:spcPts val="1750"/>
              </a:lnSpc>
              <a:buNone/>
            </a:pPr>
            <a:r>
              <a:rPr lang="en-US" sz="1150" dirty="0">
                <a:solidFill>
                  <a:srgbClr val="3D3838"/>
                </a:solidFill>
                <a:latin typeface="Source Sans 3" pitchFamily="34" charset="0"/>
                <a:ea typeface="Source Sans 3" pitchFamily="34" charset="-122"/>
                <a:cs typeface="Source Sans 3" pitchFamily="34" charset="-120"/>
              </a:rPr>
              <a:t>Cloner le dépôt GitHub et naviguer dans le répertoire projet-JEE pour accéder au code source</a:t>
            </a:r>
            <a:endParaRPr lang="en-US" sz="1150" dirty="0"/>
          </a:p>
        </p:txBody>
      </p:sp>
      <p:sp>
        <p:nvSpPr>
          <p:cNvPr id="13" name="Shape 9"/>
          <p:cNvSpPr/>
          <p:nvPr/>
        </p:nvSpPr>
        <p:spPr>
          <a:xfrm>
            <a:off x="1468517" y="3724751"/>
            <a:ext cx="151090" cy="680204"/>
          </a:xfrm>
          <a:prstGeom prst="roundRect">
            <a:avLst>
              <a:gd name="adj" fmla="val 15009"/>
            </a:avLst>
          </a:prstGeom>
          <a:solidFill>
            <a:srgbClr val="F2EEEE"/>
          </a:solidFill>
          <a:ln/>
        </p:spPr>
        <p:txBody>
          <a:bodyPr/>
          <a:lstStyle/>
          <a:p>
            <a:endParaRPr lang="fr-FR"/>
          </a:p>
        </p:txBody>
      </p:sp>
      <p:sp>
        <p:nvSpPr>
          <p:cNvPr id="14" name="Shape 10"/>
          <p:cNvSpPr/>
          <p:nvPr/>
        </p:nvSpPr>
        <p:spPr>
          <a:xfrm>
            <a:off x="1317308" y="3625572"/>
            <a:ext cx="453509" cy="453509"/>
          </a:xfrm>
          <a:prstGeom prst="roundRect">
            <a:avLst>
              <a:gd name="adj" fmla="val 100814"/>
            </a:avLst>
          </a:prstGeom>
          <a:solidFill>
            <a:srgbClr val="F2EEEE"/>
          </a:solidFill>
          <a:ln/>
        </p:spPr>
        <p:txBody>
          <a:bodyPr/>
          <a:lstStyle/>
          <a:p>
            <a:endParaRPr lang="fr-FR"/>
          </a:p>
        </p:txBody>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30655" y="3739039"/>
            <a:ext cx="226695" cy="226695"/>
          </a:xfrm>
          <a:prstGeom prst="rect">
            <a:avLst/>
          </a:prstGeom>
        </p:spPr>
      </p:pic>
      <p:sp>
        <p:nvSpPr>
          <p:cNvPr id="16" name="Text 11"/>
          <p:cNvSpPr/>
          <p:nvPr/>
        </p:nvSpPr>
        <p:spPr>
          <a:xfrm>
            <a:off x="1921907" y="3649147"/>
            <a:ext cx="1900833" cy="214670"/>
          </a:xfrm>
          <a:prstGeom prst="rect">
            <a:avLst/>
          </a:prstGeom>
          <a:noFill/>
          <a:ln/>
        </p:spPr>
        <p:txBody>
          <a:bodyPr wrap="none" lIns="0" tIns="0" rIns="0" bIns="0" rtlCol="0" anchor="t"/>
          <a:lstStyle/>
          <a:p>
            <a:pPr marL="0" indent="0" algn="l">
              <a:lnSpc>
                <a:spcPts val="1650"/>
              </a:lnSpc>
              <a:buNone/>
            </a:pPr>
            <a:r>
              <a:rPr lang="en-US" sz="1350" b="1" dirty="0">
                <a:solidFill>
                  <a:srgbClr val="3D3838"/>
                </a:solidFill>
                <a:latin typeface="Montserrat Bold" pitchFamily="34" charset="0"/>
                <a:ea typeface="Montserrat Bold" pitchFamily="34" charset="-122"/>
                <a:cs typeface="Montserrat Bold" pitchFamily="34" charset="-120"/>
              </a:rPr>
              <a:t>Démarrer le backend</a:t>
            </a:r>
            <a:endParaRPr lang="en-US" sz="1350" dirty="0"/>
          </a:p>
        </p:txBody>
      </p:sp>
      <p:sp>
        <p:nvSpPr>
          <p:cNvPr id="17" name="Text 12"/>
          <p:cNvSpPr/>
          <p:nvPr/>
        </p:nvSpPr>
        <p:spPr>
          <a:xfrm>
            <a:off x="1921907" y="3954423"/>
            <a:ext cx="11844695" cy="226814"/>
          </a:xfrm>
          <a:prstGeom prst="rect">
            <a:avLst/>
          </a:prstGeom>
          <a:noFill/>
          <a:ln/>
        </p:spPr>
        <p:txBody>
          <a:bodyPr wrap="none" lIns="0" tIns="0" rIns="0" bIns="0" rtlCol="0" anchor="t"/>
          <a:lstStyle/>
          <a:p>
            <a:pPr marL="0" indent="0" algn="l">
              <a:lnSpc>
                <a:spcPts val="1750"/>
              </a:lnSpc>
              <a:buNone/>
            </a:pPr>
            <a:r>
              <a:rPr lang="en-US" sz="1150" dirty="0">
                <a:solidFill>
                  <a:srgbClr val="3D3838"/>
                </a:solidFill>
                <a:latin typeface="Source Sans 3" pitchFamily="34" charset="0"/>
                <a:ea typeface="Source Sans 3" pitchFamily="34" charset="-122"/>
                <a:cs typeface="Source Sans 3" pitchFamily="34" charset="-120"/>
              </a:rPr>
              <a:t>Lancer les services dans l'ordre : Config Server, Eureka Server, Gateway, puis les microservices Produits et Commandes</a:t>
            </a:r>
            <a:endParaRPr lang="en-US" sz="1150" dirty="0"/>
          </a:p>
        </p:txBody>
      </p:sp>
      <p:sp>
        <p:nvSpPr>
          <p:cNvPr id="18" name="Shape 13"/>
          <p:cNvSpPr/>
          <p:nvPr/>
        </p:nvSpPr>
        <p:spPr>
          <a:xfrm>
            <a:off x="1695331" y="4782860"/>
            <a:ext cx="151090" cy="680204"/>
          </a:xfrm>
          <a:prstGeom prst="roundRect">
            <a:avLst>
              <a:gd name="adj" fmla="val 15009"/>
            </a:avLst>
          </a:prstGeom>
          <a:solidFill>
            <a:srgbClr val="F2EEEE"/>
          </a:solidFill>
          <a:ln/>
        </p:spPr>
        <p:txBody>
          <a:bodyPr/>
          <a:lstStyle/>
          <a:p>
            <a:endParaRPr lang="fr-FR"/>
          </a:p>
        </p:txBody>
      </p:sp>
      <p:sp>
        <p:nvSpPr>
          <p:cNvPr id="19" name="Shape 14"/>
          <p:cNvSpPr/>
          <p:nvPr/>
        </p:nvSpPr>
        <p:spPr>
          <a:xfrm>
            <a:off x="1544122" y="4683681"/>
            <a:ext cx="453509" cy="453509"/>
          </a:xfrm>
          <a:prstGeom prst="roundRect">
            <a:avLst>
              <a:gd name="adj" fmla="val 100814"/>
            </a:avLst>
          </a:prstGeom>
          <a:solidFill>
            <a:srgbClr val="F2EEEE"/>
          </a:solidFill>
          <a:ln/>
        </p:spPr>
        <p:txBody>
          <a:bodyPr/>
          <a:lstStyle/>
          <a:p>
            <a:endParaRPr lang="fr-FR"/>
          </a:p>
        </p:txBody>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657469" y="4797147"/>
            <a:ext cx="226695" cy="226695"/>
          </a:xfrm>
          <a:prstGeom prst="rect">
            <a:avLst/>
          </a:prstGeom>
        </p:spPr>
      </p:pic>
      <p:sp>
        <p:nvSpPr>
          <p:cNvPr id="21" name="Text 15"/>
          <p:cNvSpPr/>
          <p:nvPr/>
        </p:nvSpPr>
        <p:spPr>
          <a:xfrm>
            <a:off x="2148721" y="4707255"/>
            <a:ext cx="2294811" cy="214670"/>
          </a:xfrm>
          <a:prstGeom prst="rect">
            <a:avLst/>
          </a:prstGeom>
          <a:noFill/>
          <a:ln/>
        </p:spPr>
        <p:txBody>
          <a:bodyPr wrap="none" lIns="0" tIns="0" rIns="0" bIns="0" rtlCol="0" anchor="t"/>
          <a:lstStyle/>
          <a:p>
            <a:pPr marL="0" indent="0" algn="l">
              <a:lnSpc>
                <a:spcPts val="1650"/>
              </a:lnSpc>
              <a:buNone/>
            </a:pPr>
            <a:r>
              <a:rPr lang="en-US" sz="1350" b="1" dirty="0">
                <a:solidFill>
                  <a:srgbClr val="3D3838"/>
                </a:solidFill>
                <a:latin typeface="Montserrat Bold" pitchFamily="34" charset="0"/>
                <a:ea typeface="Montserrat Bold" pitchFamily="34" charset="-122"/>
                <a:cs typeface="Montserrat Bold" pitchFamily="34" charset="-120"/>
              </a:rPr>
              <a:t>Installer les dépendances</a:t>
            </a:r>
            <a:endParaRPr lang="en-US" sz="1350" dirty="0"/>
          </a:p>
        </p:txBody>
      </p:sp>
      <p:sp>
        <p:nvSpPr>
          <p:cNvPr id="22" name="Text 16"/>
          <p:cNvSpPr/>
          <p:nvPr/>
        </p:nvSpPr>
        <p:spPr>
          <a:xfrm>
            <a:off x="2148721" y="5012531"/>
            <a:ext cx="11617881" cy="226814"/>
          </a:xfrm>
          <a:prstGeom prst="rect">
            <a:avLst/>
          </a:prstGeom>
          <a:noFill/>
          <a:ln/>
        </p:spPr>
        <p:txBody>
          <a:bodyPr wrap="none" lIns="0" tIns="0" rIns="0" bIns="0" rtlCol="0" anchor="t"/>
          <a:lstStyle/>
          <a:p>
            <a:pPr marL="0" indent="0" algn="l">
              <a:lnSpc>
                <a:spcPts val="1750"/>
              </a:lnSpc>
              <a:buNone/>
            </a:pPr>
            <a:r>
              <a:rPr lang="en-US" sz="1150" dirty="0">
                <a:solidFill>
                  <a:srgbClr val="3D3838"/>
                </a:solidFill>
                <a:latin typeface="Source Sans 3" pitchFamily="34" charset="0"/>
                <a:ea typeface="Source Sans 3" pitchFamily="34" charset="-122"/>
                <a:cs typeface="Source Sans 3" pitchFamily="34" charset="-120"/>
              </a:rPr>
              <a:t>Dans le dossier frontend, exécuter npm install pour installer toutes les dépendances Node.js nécessaires</a:t>
            </a:r>
            <a:endParaRPr lang="en-US" sz="1150" dirty="0"/>
          </a:p>
        </p:txBody>
      </p:sp>
      <p:sp>
        <p:nvSpPr>
          <p:cNvPr id="23" name="Shape 17"/>
          <p:cNvSpPr/>
          <p:nvPr/>
        </p:nvSpPr>
        <p:spPr>
          <a:xfrm>
            <a:off x="1468517" y="5840968"/>
            <a:ext cx="151090" cy="680204"/>
          </a:xfrm>
          <a:prstGeom prst="roundRect">
            <a:avLst>
              <a:gd name="adj" fmla="val 15009"/>
            </a:avLst>
          </a:prstGeom>
          <a:solidFill>
            <a:srgbClr val="F2EEEE"/>
          </a:solidFill>
          <a:ln/>
        </p:spPr>
        <p:txBody>
          <a:bodyPr/>
          <a:lstStyle/>
          <a:p>
            <a:endParaRPr lang="fr-FR"/>
          </a:p>
        </p:txBody>
      </p:sp>
      <p:sp>
        <p:nvSpPr>
          <p:cNvPr id="24" name="Shape 18"/>
          <p:cNvSpPr/>
          <p:nvPr/>
        </p:nvSpPr>
        <p:spPr>
          <a:xfrm>
            <a:off x="1317308" y="5741789"/>
            <a:ext cx="453509" cy="453509"/>
          </a:xfrm>
          <a:prstGeom prst="roundRect">
            <a:avLst>
              <a:gd name="adj" fmla="val 100814"/>
            </a:avLst>
          </a:prstGeom>
          <a:solidFill>
            <a:srgbClr val="F2EEEE"/>
          </a:solidFill>
          <a:ln/>
        </p:spPr>
        <p:txBody>
          <a:bodyPr/>
          <a:lstStyle/>
          <a:p>
            <a:endParaRPr lang="fr-FR"/>
          </a:p>
        </p:txBody>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0655" y="5855256"/>
            <a:ext cx="226695" cy="226695"/>
          </a:xfrm>
          <a:prstGeom prst="rect">
            <a:avLst/>
          </a:prstGeom>
        </p:spPr>
      </p:pic>
      <p:sp>
        <p:nvSpPr>
          <p:cNvPr id="26" name="Text 19"/>
          <p:cNvSpPr/>
          <p:nvPr/>
        </p:nvSpPr>
        <p:spPr>
          <a:xfrm>
            <a:off x="1921907" y="5765363"/>
            <a:ext cx="2494359" cy="214670"/>
          </a:xfrm>
          <a:prstGeom prst="rect">
            <a:avLst/>
          </a:prstGeom>
          <a:noFill/>
          <a:ln/>
        </p:spPr>
        <p:txBody>
          <a:bodyPr wrap="none" lIns="0" tIns="0" rIns="0" bIns="0" rtlCol="0" anchor="t"/>
          <a:lstStyle/>
          <a:p>
            <a:pPr marL="0" indent="0" algn="l">
              <a:lnSpc>
                <a:spcPts val="1650"/>
              </a:lnSpc>
              <a:buNone/>
            </a:pPr>
            <a:r>
              <a:rPr lang="en-US" sz="1350" b="1" dirty="0">
                <a:solidFill>
                  <a:srgbClr val="3D3838"/>
                </a:solidFill>
                <a:latin typeface="Montserrat Bold" pitchFamily="34" charset="0"/>
                <a:ea typeface="Montserrat Bold" pitchFamily="34" charset="-122"/>
                <a:cs typeface="Montserrat Bold" pitchFamily="34" charset="-120"/>
              </a:rPr>
              <a:t>Configurer l'environnement</a:t>
            </a:r>
            <a:endParaRPr lang="en-US" sz="1350" dirty="0"/>
          </a:p>
        </p:txBody>
      </p:sp>
      <p:sp>
        <p:nvSpPr>
          <p:cNvPr id="27" name="Text 20"/>
          <p:cNvSpPr/>
          <p:nvPr/>
        </p:nvSpPr>
        <p:spPr>
          <a:xfrm>
            <a:off x="1921907" y="6070640"/>
            <a:ext cx="11844695" cy="226814"/>
          </a:xfrm>
          <a:prstGeom prst="rect">
            <a:avLst/>
          </a:prstGeom>
          <a:noFill/>
          <a:ln/>
        </p:spPr>
        <p:txBody>
          <a:bodyPr wrap="none" lIns="0" tIns="0" rIns="0" bIns="0" rtlCol="0" anchor="t"/>
          <a:lstStyle/>
          <a:p>
            <a:pPr marL="0" indent="0" algn="l">
              <a:lnSpc>
                <a:spcPts val="1750"/>
              </a:lnSpc>
              <a:buNone/>
            </a:pPr>
            <a:r>
              <a:rPr lang="en-US" sz="1150" dirty="0">
                <a:solidFill>
                  <a:srgbClr val="3D3838"/>
                </a:solidFill>
                <a:latin typeface="Source Sans 3" pitchFamily="34" charset="0"/>
                <a:ea typeface="Source Sans 3" pitchFamily="34" charset="-122"/>
                <a:cs typeface="Source Sans 3" pitchFamily="34" charset="-120"/>
              </a:rPr>
              <a:t>Créer le fichier .env.local avec les URLs du backend : API_URL et WebSocket URL</a:t>
            </a:r>
            <a:endParaRPr lang="en-US" sz="1150" dirty="0"/>
          </a:p>
        </p:txBody>
      </p:sp>
      <p:sp>
        <p:nvSpPr>
          <p:cNvPr id="28" name="Shape 21"/>
          <p:cNvSpPr/>
          <p:nvPr/>
        </p:nvSpPr>
        <p:spPr>
          <a:xfrm>
            <a:off x="1241703" y="6899077"/>
            <a:ext cx="151090" cy="680204"/>
          </a:xfrm>
          <a:prstGeom prst="roundRect">
            <a:avLst>
              <a:gd name="adj" fmla="val 15009"/>
            </a:avLst>
          </a:prstGeom>
          <a:solidFill>
            <a:srgbClr val="F2EEEE"/>
          </a:solidFill>
          <a:ln/>
        </p:spPr>
        <p:txBody>
          <a:bodyPr/>
          <a:lstStyle/>
          <a:p>
            <a:endParaRPr lang="fr-FR"/>
          </a:p>
        </p:txBody>
      </p:sp>
      <p:sp>
        <p:nvSpPr>
          <p:cNvPr id="29" name="Shape 22"/>
          <p:cNvSpPr/>
          <p:nvPr/>
        </p:nvSpPr>
        <p:spPr>
          <a:xfrm>
            <a:off x="1090493" y="6799898"/>
            <a:ext cx="453509" cy="453509"/>
          </a:xfrm>
          <a:prstGeom prst="roundRect">
            <a:avLst>
              <a:gd name="adj" fmla="val 100814"/>
            </a:avLst>
          </a:prstGeom>
          <a:solidFill>
            <a:srgbClr val="F2EEEE"/>
          </a:solidFill>
          <a:ln/>
        </p:spPr>
        <p:txBody>
          <a:bodyPr/>
          <a:lstStyle/>
          <a:p>
            <a:endParaRPr lang="fr-FR"/>
          </a:p>
        </p:txBody>
      </p:sp>
      <p:pic>
        <p:nvPicPr>
          <p:cNvPr id="30"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203841" y="6913364"/>
            <a:ext cx="226695" cy="226695"/>
          </a:xfrm>
          <a:prstGeom prst="rect">
            <a:avLst/>
          </a:prstGeom>
        </p:spPr>
      </p:pic>
      <p:sp>
        <p:nvSpPr>
          <p:cNvPr id="31" name="Text 23"/>
          <p:cNvSpPr/>
          <p:nvPr/>
        </p:nvSpPr>
        <p:spPr>
          <a:xfrm>
            <a:off x="1695093" y="6823472"/>
            <a:ext cx="1763078" cy="214670"/>
          </a:xfrm>
          <a:prstGeom prst="rect">
            <a:avLst/>
          </a:prstGeom>
          <a:noFill/>
          <a:ln/>
        </p:spPr>
        <p:txBody>
          <a:bodyPr wrap="none" lIns="0" tIns="0" rIns="0" bIns="0" rtlCol="0" anchor="t"/>
          <a:lstStyle/>
          <a:p>
            <a:pPr marL="0" indent="0" algn="l">
              <a:lnSpc>
                <a:spcPts val="1650"/>
              </a:lnSpc>
              <a:buNone/>
            </a:pPr>
            <a:r>
              <a:rPr lang="en-US" sz="1350" b="1" dirty="0">
                <a:solidFill>
                  <a:srgbClr val="3D3838"/>
                </a:solidFill>
                <a:latin typeface="Montserrat Bold" pitchFamily="34" charset="0"/>
                <a:ea typeface="Montserrat Bold" pitchFamily="34" charset="-122"/>
                <a:cs typeface="Montserrat Bold" pitchFamily="34" charset="-120"/>
              </a:rPr>
              <a:t>Lancer l'application</a:t>
            </a:r>
            <a:endParaRPr lang="en-US" sz="1350" dirty="0"/>
          </a:p>
        </p:txBody>
      </p:sp>
      <p:sp>
        <p:nvSpPr>
          <p:cNvPr id="32" name="Text 24"/>
          <p:cNvSpPr/>
          <p:nvPr/>
        </p:nvSpPr>
        <p:spPr>
          <a:xfrm>
            <a:off x="1695093" y="7128748"/>
            <a:ext cx="12071509" cy="226814"/>
          </a:xfrm>
          <a:prstGeom prst="rect">
            <a:avLst/>
          </a:prstGeom>
          <a:noFill/>
          <a:ln/>
        </p:spPr>
        <p:txBody>
          <a:bodyPr wrap="none" lIns="0" tIns="0" rIns="0" bIns="0" rtlCol="0" anchor="t"/>
          <a:lstStyle/>
          <a:p>
            <a:pPr marL="0" indent="0" algn="l">
              <a:lnSpc>
                <a:spcPts val="1750"/>
              </a:lnSpc>
              <a:buNone/>
            </a:pPr>
            <a:r>
              <a:rPr lang="en-US" sz="1150" dirty="0">
                <a:solidFill>
                  <a:srgbClr val="3D3838"/>
                </a:solidFill>
                <a:latin typeface="Source Sans 3" pitchFamily="34" charset="0"/>
                <a:ea typeface="Source Sans 3" pitchFamily="34" charset="-122"/>
                <a:cs typeface="Source Sans 3" pitchFamily="34" charset="-120"/>
              </a:rPr>
              <a:t>Exécuter npm run dev pour démarrer le serveur de développement sur le port 3000</a:t>
            </a:r>
            <a:endParaRPr lang="en-US" sz="1150" dirty="0"/>
          </a:p>
        </p:txBody>
      </p:sp>
      <p:sp>
        <p:nvSpPr>
          <p:cNvPr id="33" name="ZoneTexte 32">
            <a:extLst>
              <a:ext uri="{FF2B5EF4-FFF2-40B4-BE49-F238E27FC236}">
                <a16:creationId xmlns:a16="http://schemas.microsoft.com/office/drawing/2014/main" id="{EE59E4A9-3471-9309-B5E4-FFCF2BED0336}"/>
              </a:ext>
            </a:extLst>
          </p:cNvPr>
          <p:cNvSpPr txBox="1"/>
          <p:nvPr/>
        </p:nvSpPr>
        <p:spPr>
          <a:xfrm>
            <a:off x="12804564" y="7714034"/>
            <a:ext cx="1825836" cy="515566"/>
          </a:xfrm>
          <a:prstGeom prst="rect">
            <a:avLst/>
          </a:prstGeom>
          <a:solidFill>
            <a:schemeClr val="bg1"/>
          </a:solidFill>
          <a:ln>
            <a:solidFill>
              <a:schemeClr val="bg1"/>
            </a:solidFill>
          </a:ln>
        </p:spPr>
        <p:txBody>
          <a:bodyPr wrap="square" rtlCol="0">
            <a:spAutoFit/>
          </a:bodyPr>
          <a:lstStyle/>
          <a:p>
            <a:endParaRPr lang="fr-FR" dirty="0"/>
          </a:p>
        </p:txBody>
      </p:sp>
      <p:sp>
        <p:nvSpPr>
          <p:cNvPr id="34" name="ZoneTexte 33">
            <a:extLst>
              <a:ext uri="{FF2B5EF4-FFF2-40B4-BE49-F238E27FC236}">
                <a16:creationId xmlns:a16="http://schemas.microsoft.com/office/drawing/2014/main" id="{6D519B59-217C-41D0-E57D-B1AA4BFE3FC7}"/>
              </a:ext>
            </a:extLst>
          </p:cNvPr>
          <p:cNvSpPr txBox="1"/>
          <p:nvPr/>
        </p:nvSpPr>
        <p:spPr>
          <a:xfrm>
            <a:off x="13861915" y="7714034"/>
            <a:ext cx="573932" cy="369332"/>
          </a:xfrm>
          <a:prstGeom prst="rect">
            <a:avLst/>
          </a:prstGeom>
          <a:noFill/>
        </p:spPr>
        <p:txBody>
          <a:bodyPr wrap="square" rtlCol="0">
            <a:spAutoFit/>
          </a:bodyPr>
          <a:lstStyle/>
          <a:p>
            <a:r>
              <a:rPr lang="fr-FR" dirty="0"/>
              <a:t>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63798" y="723424"/>
            <a:ext cx="10203418" cy="582930"/>
          </a:xfrm>
          <a:prstGeom prst="rect">
            <a:avLst/>
          </a:prstGeom>
          <a:noFill/>
          <a:ln/>
        </p:spPr>
        <p:txBody>
          <a:bodyPr wrap="none" lIns="0" tIns="0" rIns="0" bIns="0" rtlCol="0" anchor="t"/>
          <a:lstStyle/>
          <a:p>
            <a:pPr marL="0" indent="0" algn="l">
              <a:lnSpc>
                <a:spcPts val="4550"/>
              </a:lnSpc>
              <a:buNone/>
            </a:pPr>
            <a:r>
              <a:rPr lang="en-US" sz="3650" b="1" dirty="0">
                <a:solidFill>
                  <a:srgbClr val="000000"/>
                </a:solidFill>
                <a:latin typeface="Montserrat Bold" pitchFamily="34" charset="0"/>
                <a:ea typeface="Montserrat Bold" pitchFamily="34" charset="-122"/>
                <a:cs typeface="Montserrat Bold" pitchFamily="34" charset="-120"/>
              </a:rPr>
              <a:t>Captures d'Écran : L'Application en Action</a:t>
            </a:r>
            <a:endParaRPr lang="en-US" sz="3650" dirty="0"/>
          </a:p>
        </p:txBody>
      </p:sp>
      <p:pic>
        <p:nvPicPr>
          <p:cNvPr id="3" name="Image 0" descr="preencoded.png"/>
          <p:cNvPicPr>
            <a:picLocks noChangeAspect="1"/>
          </p:cNvPicPr>
          <p:nvPr/>
        </p:nvPicPr>
        <p:blipFill>
          <a:blip r:embed="rId3"/>
          <a:stretch>
            <a:fillRect/>
          </a:stretch>
        </p:blipFill>
        <p:spPr>
          <a:xfrm>
            <a:off x="871418" y="1849398"/>
            <a:ext cx="4184571" cy="2256949"/>
          </a:xfrm>
          <a:prstGeom prst="rect">
            <a:avLst/>
          </a:prstGeom>
        </p:spPr>
      </p:pic>
      <p:pic>
        <p:nvPicPr>
          <p:cNvPr id="4" name="Image 1" descr="preencoded.png"/>
          <p:cNvPicPr>
            <a:picLocks noChangeAspect="1"/>
          </p:cNvPicPr>
          <p:nvPr/>
        </p:nvPicPr>
        <p:blipFill>
          <a:blip r:embed="rId4"/>
          <a:stretch>
            <a:fillRect/>
          </a:stretch>
        </p:blipFill>
        <p:spPr>
          <a:xfrm>
            <a:off x="5220057" y="1849398"/>
            <a:ext cx="4184571" cy="2256949"/>
          </a:xfrm>
          <a:prstGeom prst="rect">
            <a:avLst/>
          </a:prstGeom>
        </p:spPr>
      </p:pic>
      <p:pic>
        <p:nvPicPr>
          <p:cNvPr id="5" name="Image 2" descr="preencoded.png"/>
          <p:cNvPicPr>
            <a:picLocks noChangeAspect="1"/>
          </p:cNvPicPr>
          <p:nvPr/>
        </p:nvPicPr>
        <p:blipFill>
          <a:blip r:embed="rId5"/>
          <a:stretch>
            <a:fillRect/>
          </a:stretch>
        </p:blipFill>
        <p:spPr>
          <a:xfrm>
            <a:off x="9568696" y="1849398"/>
            <a:ext cx="4190286" cy="2256949"/>
          </a:xfrm>
          <a:prstGeom prst="rect">
            <a:avLst/>
          </a:prstGeom>
        </p:spPr>
      </p:pic>
      <p:pic>
        <p:nvPicPr>
          <p:cNvPr id="6" name="Image 3" descr="preencoded.png"/>
          <p:cNvPicPr>
            <a:picLocks noChangeAspect="1"/>
          </p:cNvPicPr>
          <p:nvPr/>
        </p:nvPicPr>
        <p:blipFill>
          <a:blip r:embed="rId6"/>
          <a:stretch>
            <a:fillRect/>
          </a:stretch>
        </p:blipFill>
        <p:spPr>
          <a:xfrm>
            <a:off x="871418" y="4270415"/>
            <a:ext cx="6361748" cy="2256949"/>
          </a:xfrm>
          <a:prstGeom prst="rect">
            <a:avLst/>
          </a:prstGeom>
        </p:spPr>
      </p:pic>
      <p:pic>
        <p:nvPicPr>
          <p:cNvPr id="7" name="Image 4" descr="preencoded.png"/>
          <p:cNvPicPr>
            <a:picLocks noChangeAspect="1"/>
          </p:cNvPicPr>
          <p:nvPr/>
        </p:nvPicPr>
        <p:blipFill>
          <a:blip r:embed="rId7"/>
          <a:stretch>
            <a:fillRect/>
          </a:stretch>
        </p:blipFill>
        <p:spPr>
          <a:xfrm>
            <a:off x="7397234" y="4270415"/>
            <a:ext cx="6361748" cy="2256949"/>
          </a:xfrm>
          <a:prstGeom prst="rect">
            <a:avLst/>
          </a:prstGeom>
        </p:spPr>
      </p:pic>
      <p:sp>
        <p:nvSpPr>
          <p:cNvPr id="8" name="Text 1"/>
          <p:cNvSpPr/>
          <p:nvPr/>
        </p:nvSpPr>
        <p:spPr>
          <a:xfrm>
            <a:off x="863798" y="6890861"/>
            <a:ext cx="12902803" cy="615315"/>
          </a:xfrm>
          <a:prstGeom prst="rect">
            <a:avLst/>
          </a:prstGeom>
          <a:noFill/>
          <a:ln/>
        </p:spPr>
        <p:txBody>
          <a:bodyPr wrap="square" lIns="0" tIns="0" rIns="0" bIns="0" rtlCol="0" anchor="t"/>
          <a:lstStyle/>
          <a:p>
            <a:pPr marL="0" indent="0" algn="l">
              <a:lnSpc>
                <a:spcPts val="2400"/>
              </a:lnSpc>
              <a:buNone/>
            </a:pPr>
            <a:r>
              <a:rPr lang="en-US" sz="1600" dirty="0">
                <a:solidFill>
                  <a:srgbClr val="3D3838"/>
                </a:solidFill>
                <a:latin typeface="Source Sans 3" pitchFamily="34" charset="0"/>
                <a:ea typeface="Source Sans 3" pitchFamily="34" charset="-122"/>
                <a:cs typeface="Source Sans 3" pitchFamily="34" charset="-120"/>
              </a:rPr>
              <a:t>Ces captures illustrent l'interface utilisateur moderne et responsive de l'application, du dashboard aux formulaires de gestion des produits et commandes.</a:t>
            </a:r>
            <a:endParaRPr lang="en-US" sz="1600" dirty="0"/>
          </a:p>
        </p:txBody>
      </p:sp>
      <p:sp>
        <p:nvSpPr>
          <p:cNvPr id="9" name="ZoneTexte 8">
            <a:extLst>
              <a:ext uri="{FF2B5EF4-FFF2-40B4-BE49-F238E27FC236}">
                <a16:creationId xmlns:a16="http://schemas.microsoft.com/office/drawing/2014/main" id="{22E67ABE-4C7F-BB9A-E468-5F6610DD8FF2}"/>
              </a:ext>
            </a:extLst>
          </p:cNvPr>
          <p:cNvSpPr txBox="1"/>
          <p:nvPr/>
        </p:nvSpPr>
        <p:spPr>
          <a:xfrm>
            <a:off x="12804564" y="7714034"/>
            <a:ext cx="1825836" cy="515566"/>
          </a:xfrm>
          <a:prstGeom prst="rect">
            <a:avLst/>
          </a:prstGeom>
          <a:solidFill>
            <a:schemeClr val="bg1"/>
          </a:solidFill>
          <a:ln>
            <a:solidFill>
              <a:schemeClr val="bg1"/>
            </a:solidFill>
          </a:ln>
        </p:spPr>
        <p:txBody>
          <a:bodyPr wrap="square" rtlCol="0">
            <a:spAutoFit/>
          </a:bodyPr>
          <a:lstStyle/>
          <a:p>
            <a:endParaRPr lang="fr-FR" dirty="0"/>
          </a:p>
        </p:txBody>
      </p:sp>
      <p:sp>
        <p:nvSpPr>
          <p:cNvPr id="10" name="ZoneTexte 9">
            <a:extLst>
              <a:ext uri="{FF2B5EF4-FFF2-40B4-BE49-F238E27FC236}">
                <a16:creationId xmlns:a16="http://schemas.microsoft.com/office/drawing/2014/main" id="{1A826B3C-C7F4-3B1E-32C1-C49A9CDD34F4}"/>
              </a:ext>
            </a:extLst>
          </p:cNvPr>
          <p:cNvSpPr txBox="1"/>
          <p:nvPr/>
        </p:nvSpPr>
        <p:spPr>
          <a:xfrm>
            <a:off x="13861915" y="7714034"/>
            <a:ext cx="573932" cy="369332"/>
          </a:xfrm>
          <a:prstGeom prst="rect">
            <a:avLst/>
          </a:prstGeom>
          <a:noFill/>
        </p:spPr>
        <p:txBody>
          <a:bodyPr wrap="square" rtlCol="0">
            <a:spAutoFit/>
          </a:bodyPr>
          <a:lstStyle/>
          <a:p>
            <a:r>
              <a:rPr lang="fr-FR" dirty="0"/>
              <a:t>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17007" y="561618"/>
            <a:ext cx="6290191" cy="377071"/>
          </a:xfrm>
          <a:prstGeom prst="rect">
            <a:avLst/>
          </a:prstGeom>
          <a:noFill/>
          <a:ln/>
        </p:spPr>
        <p:txBody>
          <a:bodyPr wrap="none" lIns="0" tIns="0" rIns="0" bIns="0" rtlCol="0" anchor="t"/>
          <a:lstStyle/>
          <a:p>
            <a:pPr marL="0" indent="0" algn="l">
              <a:lnSpc>
                <a:spcPts val="2950"/>
              </a:lnSpc>
              <a:buNone/>
            </a:pPr>
            <a:r>
              <a:rPr lang="en-US" sz="2350" b="1" dirty="0">
                <a:solidFill>
                  <a:srgbClr val="000000"/>
                </a:solidFill>
                <a:latin typeface="Montserrat Bold" pitchFamily="34" charset="0"/>
                <a:ea typeface="Montserrat Bold" pitchFamily="34" charset="-122"/>
                <a:cs typeface="Montserrat Bold" pitchFamily="34" charset="-120"/>
              </a:rPr>
              <a:t>Réalisations et Perspectives d'Évolution</a:t>
            </a:r>
            <a:endParaRPr lang="en-US" sz="2350" dirty="0"/>
          </a:p>
        </p:txBody>
      </p:sp>
      <p:sp>
        <p:nvSpPr>
          <p:cNvPr id="3" name="Text 1"/>
          <p:cNvSpPr/>
          <p:nvPr/>
        </p:nvSpPr>
        <p:spPr>
          <a:xfrm>
            <a:off x="817007" y="1270516"/>
            <a:ext cx="2066568" cy="226338"/>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Montserrat Bold" pitchFamily="34" charset="0"/>
                <a:ea typeface="Montserrat Bold" pitchFamily="34" charset="-122"/>
                <a:cs typeface="Montserrat Bold" pitchFamily="34" charset="-120"/>
              </a:rPr>
              <a:t>Points Forts du Projet</a:t>
            </a:r>
            <a:endParaRPr lang="en-US" sz="1400" dirty="0"/>
          </a:p>
        </p:txBody>
      </p:sp>
      <p:sp>
        <p:nvSpPr>
          <p:cNvPr id="4" name="Text 2"/>
          <p:cNvSpPr/>
          <p:nvPr/>
        </p:nvSpPr>
        <p:spPr>
          <a:xfrm>
            <a:off x="817007" y="1629608"/>
            <a:ext cx="6336268" cy="597218"/>
          </a:xfrm>
          <a:prstGeom prst="rect">
            <a:avLst/>
          </a:prstGeom>
          <a:noFill/>
          <a:ln/>
        </p:spPr>
        <p:txBody>
          <a:bodyPr wrap="square" lIns="0" tIns="0" rIns="0" bIns="0" rtlCol="0" anchor="t"/>
          <a:lstStyle/>
          <a:p>
            <a:pPr marL="0" indent="0" algn="l">
              <a:lnSpc>
                <a:spcPts val="1550"/>
              </a:lnSpc>
              <a:buNone/>
            </a:pPr>
            <a:r>
              <a:rPr lang="en-US" sz="1000" dirty="0">
                <a:solidFill>
                  <a:srgbClr val="3D3838"/>
                </a:solidFill>
                <a:latin typeface="Source Sans 3" pitchFamily="34" charset="0"/>
                <a:ea typeface="Source Sans 3" pitchFamily="34" charset="-122"/>
                <a:cs typeface="Source Sans 3" pitchFamily="34" charset="-120"/>
              </a:rPr>
              <a:t>Ce projet J2EE représente une implémentation complète et professionnelle d'une architecture microservices moderne. Il démontre la maîtrise des concepts clés du développement d'applications distribuées avec Spring Cloud.</a:t>
            </a:r>
            <a:endParaRPr lang="en-US" sz="1000" dirty="0"/>
          </a:p>
        </p:txBody>
      </p:sp>
      <p:sp>
        <p:nvSpPr>
          <p:cNvPr id="5" name="Shape 3"/>
          <p:cNvSpPr/>
          <p:nvPr/>
        </p:nvSpPr>
        <p:spPr>
          <a:xfrm>
            <a:off x="817007" y="2376130"/>
            <a:ext cx="298609" cy="298609"/>
          </a:xfrm>
          <a:prstGeom prst="roundRect">
            <a:avLst>
              <a:gd name="adj" fmla="val 6669"/>
            </a:avLst>
          </a:prstGeom>
          <a:solidFill>
            <a:srgbClr val="F2EEEE"/>
          </a:solidFill>
          <a:ln/>
        </p:spPr>
        <p:txBody>
          <a:bodyPr/>
          <a:lstStyle/>
          <a:p>
            <a:endParaRPr lang="fr-FR"/>
          </a:p>
        </p:txBody>
      </p:sp>
      <p:sp>
        <p:nvSpPr>
          <p:cNvPr id="6" name="Text 4"/>
          <p:cNvSpPr/>
          <p:nvPr/>
        </p:nvSpPr>
        <p:spPr>
          <a:xfrm>
            <a:off x="1248370" y="2421731"/>
            <a:ext cx="2927509" cy="188476"/>
          </a:xfrm>
          <a:prstGeom prst="rect">
            <a:avLst/>
          </a:prstGeom>
          <a:noFill/>
          <a:ln/>
        </p:spPr>
        <p:txBody>
          <a:bodyPr wrap="none" lIns="0" tIns="0" rIns="0" bIns="0" rtlCol="0" anchor="t"/>
          <a:lstStyle/>
          <a:p>
            <a:pPr marL="0" indent="0" algn="l">
              <a:lnSpc>
                <a:spcPts val="1450"/>
              </a:lnSpc>
              <a:buNone/>
            </a:pPr>
            <a:r>
              <a:rPr lang="en-US" sz="1150" b="1" dirty="0">
                <a:solidFill>
                  <a:srgbClr val="3D3838"/>
                </a:solidFill>
                <a:latin typeface="Montserrat Bold" pitchFamily="34" charset="0"/>
                <a:ea typeface="Montserrat Bold" pitchFamily="34" charset="-122"/>
                <a:cs typeface="Montserrat Bold" pitchFamily="34" charset="-120"/>
              </a:rPr>
              <a:t>Architecture scalable et maintenable</a:t>
            </a:r>
            <a:endParaRPr lang="en-US" sz="1150" dirty="0"/>
          </a:p>
        </p:txBody>
      </p:sp>
      <p:sp>
        <p:nvSpPr>
          <p:cNvPr id="7" name="Text 5"/>
          <p:cNvSpPr/>
          <p:nvPr/>
        </p:nvSpPr>
        <p:spPr>
          <a:xfrm>
            <a:off x="1248370" y="2742962"/>
            <a:ext cx="5904905" cy="199073"/>
          </a:xfrm>
          <a:prstGeom prst="rect">
            <a:avLst/>
          </a:prstGeom>
          <a:noFill/>
          <a:ln/>
        </p:spPr>
        <p:txBody>
          <a:bodyPr wrap="none" lIns="0" tIns="0" rIns="0" bIns="0" rtlCol="0" anchor="t"/>
          <a:lstStyle/>
          <a:p>
            <a:pPr marL="0" indent="0" algn="l">
              <a:lnSpc>
                <a:spcPts val="1550"/>
              </a:lnSpc>
              <a:buNone/>
            </a:pPr>
            <a:r>
              <a:rPr lang="en-US" sz="1000" dirty="0">
                <a:solidFill>
                  <a:srgbClr val="3D3838"/>
                </a:solidFill>
                <a:latin typeface="Source Sans 3" pitchFamily="34" charset="0"/>
                <a:ea typeface="Source Sans 3" pitchFamily="34" charset="-122"/>
                <a:cs typeface="Source Sans 3" pitchFamily="34" charset="-120"/>
              </a:rPr>
              <a:t>Découplage complet des services permettant évolution et maintenance indépendantes</a:t>
            </a:r>
            <a:endParaRPr lang="en-US" sz="1000" dirty="0"/>
          </a:p>
        </p:txBody>
      </p:sp>
      <p:sp>
        <p:nvSpPr>
          <p:cNvPr id="8" name="Shape 6"/>
          <p:cNvSpPr/>
          <p:nvPr/>
        </p:nvSpPr>
        <p:spPr>
          <a:xfrm>
            <a:off x="817007" y="3207544"/>
            <a:ext cx="298609" cy="298609"/>
          </a:xfrm>
          <a:prstGeom prst="roundRect">
            <a:avLst>
              <a:gd name="adj" fmla="val 6669"/>
            </a:avLst>
          </a:prstGeom>
          <a:solidFill>
            <a:srgbClr val="F2EEEE"/>
          </a:solidFill>
          <a:ln/>
        </p:spPr>
        <p:txBody>
          <a:bodyPr/>
          <a:lstStyle/>
          <a:p>
            <a:endParaRPr lang="fr-FR"/>
          </a:p>
        </p:txBody>
      </p:sp>
      <p:sp>
        <p:nvSpPr>
          <p:cNvPr id="9" name="Text 7"/>
          <p:cNvSpPr/>
          <p:nvPr/>
        </p:nvSpPr>
        <p:spPr>
          <a:xfrm>
            <a:off x="1248370" y="3253145"/>
            <a:ext cx="1514832" cy="188476"/>
          </a:xfrm>
          <a:prstGeom prst="rect">
            <a:avLst/>
          </a:prstGeom>
          <a:noFill/>
          <a:ln/>
        </p:spPr>
        <p:txBody>
          <a:bodyPr wrap="none" lIns="0" tIns="0" rIns="0" bIns="0" rtlCol="0" anchor="t"/>
          <a:lstStyle/>
          <a:p>
            <a:pPr marL="0" indent="0" algn="l">
              <a:lnSpc>
                <a:spcPts val="1450"/>
              </a:lnSpc>
              <a:buNone/>
            </a:pPr>
            <a:r>
              <a:rPr lang="en-US" sz="1150" b="1" dirty="0">
                <a:solidFill>
                  <a:srgbClr val="3D3838"/>
                </a:solidFill>
                <a:latin typeface="Montserrat Bold" pitchFamily="34" charset="0"/>
                <a:ea typeface="Montserrat Bold" pitchFamily="34" charset="-122"/>
                <a:cs typeface="Montserrat Bold" pitchFamily="34" charset="-120"/>
              </a:rPr>
              <a:t>Résilience intégrée</a:t>
            </a:r>
            <a:endParaRPr lang="en-US" sz="1150" dirty="0"/>
          </a:p>
        </p:txBody>
      </p:sp>
      <p:sp>
        <p:nvSpPr>
          <p:cNvPr id="10" name="Text 8"/>
          <p:cNvSpPr/>
          <p:nvPr/>
        </p:nvSpPr>
        <p:spPr>
          <a:xfrm>
            <a:off x="1248370" y="3574375"/>
            <a:ext cx="5904905" cy="199073"/>
          </a:xfrm>
          <a:prstGeom prst="rect">
            <a:avLst/>
          </a:prstGeom>
          <a:noFill/>
          <a:ln/>
        </p:spPr>
        <p:txBody>
          <a:bodyPr wrap="none" lIns="0" tIns="0" rIns="0" bIns="0" rtlCol="0" anchor="t"/>
          <a:lstStyle/>
          <a:p>
            <a:pPr marL="0" indent="0" algn="l">
              <a:lnSpc>
                <a:spcPts val="1550"/>
              </a:lnSpc>
              <a:buNone/>
            </a:pPr>
            <a:r>
              <a:rPr lang="en-US" sz="1000" dirty="0">
                <a:solidFill>
                  <a:srgbClr val="3D3838"/>
                </a:solidFill>
                <a:latin typeface="Source Sans 3" pitchFamily="34" charset="0"/>
                <a:ea typeface="Source Sans 3" pitchFamily="34" charset="-122"/>
                <a:cs typeface="Source Sans 3" pitchFamily="34" charset="-120"/>
              </a:rPr>
              <a:t>Tolérance aux pannes grâce aux circuit breakers et fallbacks automatiques</a:t>
            </a:r>
            <a:endParaRPr lang="en-US" sz="1000" dirty="0"/>
          </a:p>
        </p:txBody>
      </p:sp>
      <p:sp>
        <p:nvSpPr>
          <p:cNvPr id="11" name="Shape 9"/>
          <p:cNvSpPr/>
          <p:nvPr/>
        </p:nvSpPr>
        <p:spPr>
          <a:xfrm>
            <a:off x="817007" y="4038957"/>
            <a:ext cx="298609" cy="298609"/>
          </a:xfrm>
          <a:prstGeom prst="roundRect">
            <a:avLst>
              <a:gd name="adj" fmla="val 6669"/>
            </a:avLst>
          </a:prstGeom>
          <a:solidFill>
            <a:srgbClr val="F2EEEE"/>
          </a:solidFill>
          <a:ln/>
        </p:spPr>
        <p:txBody>
          <a:bodyPr/>
          <a:lstStyle/>
          <a:p>
            <a:endParaRPr lang="fr-FR"/>
          </a:p>
        </p:txBody>
      </p:sp>
      <p:sp>
        <p:nvSpPr>
          <p:cNvPr id="12" name="Text 10"/>
          <p:cNvSpPr/>
          <p:nvPr/>
        </p:nvSpPr>
        <p:spPr>
          <a:xfrm>
            <a:off x="1248370" y="4084558"/>
            <a:ext cx="2321719" cy="188476"/>
          </a:xfrm>
          <a:prstGeom prst="rect">
            <a:avLst/>
          </a:prstGeom>
          <a:noFill/>
          <a:ln/>
        </p:spPr>
        <p:txBody>
          <a:bodyPr wrap="none" lIns="0" tIns="0" rIns="0" bIns="0" rtlCol="0" anchor="t"/>
          <a:lstStyle/>
          <a:p>
            <a:pPr marL="0" indent="0" algn="l">
              <a:lnSpc>
                <a:spcPts val="1450"/>
              </a:lnSpc>
              <a:buNone/>
            </a:pPr>
            <a:r>
              <a:rPr lang="en-US" sz="1150" b="1" dirty="0">
                <a:solidFill>
                  <a:srgbClr val="3D3838"/>
                </a:solidFill>
                <a:latin typeface="Montserrat Bold" pitchFamily="34" charset="0"/>
                <a:ea typeface="Montserrat Bold" pitchFamily="34" charset="-122"/>
                <a:cs typeface="Montserrat Bold" pitchFamily="34" charset="-120"/>
              </a:rPr>
              <a:t>Interface utilisateur moderne</a:t>
            </a:r>
            <a:endParaRPr lang="en-US" sz="1150" dirty="0"/>
          </a:p>
        </p:txBody>
      </p:sp>
      <p:sp>
        <p:nvSpPr>
          <p:cNvPr id="13" name="Text 11"/>
          <p:cNvSpPr/>
          <p:nvPr/>
        </p:nvSpPr>
        <p:spPr>
          <a:xfrm>
            <a:off x="1248370" y="4405789"/>
            <a:ext cx="5904905" cy="199073"/>
          </a:xfrm>
          <a:prstGeom prst="rect">
            <a:avLst/>
          </a:prstGeom>
          <a:noFill/>
          <a:ln/>
        </p:spPr>
        <p:txBody>
          <a:bodyPr wrap="none" lIns="0" tIns="0" rIns="0" bIns="0" rtlCol="0" anchor="t"/>
          <a:lstStyle/>
          <a:p>
            <a:pPr marL="0" indent="0" algn="l">
              <a:lnSpc>
                <a:spcPts val="1550"/>
              </a:lnSpc>
              <a:buNone/>
            </a:pPr>
            <a:r>
              <a:rPr lang="en-US" sz="1000" dirty="0">
                <a:solidFill>
                  <a:srgbClr val="3D3838"/>
                </a:solidFill>
                <a:latin typeface="Source Sans 3" pitchFamily="34" charset="0"/>
                <a:ea typeface="Source Sans 3" pitchFamily="34" charset="-122"/>
                <a:cs typeface="Source Sans 3" pitchFamily="34" charset="-120"/>
              </a:rPr>
              <a:t>Frontend Next.js responsive avec expérience utilisateur optimale</a:t>
            </a:r>
            <a:endParaRPr lang="en-US" sz="1000" dirty="0"/>
          </a:p>
        </p:txBody>
      </p:sp>
      <p:sp>
        <p:nvSpPr>
          <p:cNvPr id="14" name="Shape 12"/>
          <p:cNvSpPr/>
          <p:nvPr/>
        </p:nvSpPr>
        <p:spPr>
          <a:xfrm>
            <a:off x="817007" y="4870371"/>
            <a:ext cx="298609" cy="298609"/>
          </a:xfrm>
          <a:prstGeom prst="roundRect">
            <a:avLst>
              <a:gd name="adj" fmla="val 6669"/>
            </a:avLst>
          </a:prstGeom>
          <a:solidFill>
            <a:srgbClr val="F2EEEE"/>
          </a:solidFill>
          <a:ln/>
        </p:spPr>
        <p:txBody>
          <a:bodyPr/>
          <a:lstStyle/>
          <a:p>
            <a:endParaRPr lang="fr-FR"/>
          </a:p>
        </p:txBody>
      </p:sp>
      <p:sp>
        <p:nvSpPr>
          <p:cNvPr id="15" name="Text 13"/>
          <p:cNvSpPr/>
          <p:nvPr/>
        </p:nvSpPr>
        <p:spPr>
          <a:xfrm>
            <a:off x="1248370" y="4915972"/>
            <a:ext cx="2033707" cy="188476"/>
          </a:xfrm>
          <a:prstGeom prst="rect">
            <a:avLst/>
          </a:prstGeom>
          <a:noFill/>
          <a:ln/>
        </p:spPr>
        <p:txBody>
          <a:bodyPr wrap="none" lIns="0" tIns="0" rIns="0" bIns="0" rtlCol="0" anchor="t"/>
          <a:lstStyle/>
          <a:p>
            <a:pPr marL="0" indent="0" algn="l">
              <a:lnSpc>
                <a:spcPts val="1450"/>
              </a:lnSpc>
              <a:buNone/>
            </a:pPr>
            <a:r>
              <a:rPr lang="en-US" sz="1150" b="1" dirty="0">
                <a:solidFill>
                  <a:srgbClr val="3D3838"/>
                </a:solidFill>
                <a:latin typeface="Montserrat Bold" pitchFamily="34" charset="0"/>
                <a:ea typeface="Montserrat Bold" pitchFamily="34" charset="-122"/>
                <a:cs typeface="Montserrat Bold" pitchFamily="34" charset="-120"/>
              </a:rPr>
              <a:t>Documentation complète</a:t>
            </a:r>
            <a:endParaRPr lang="en-US" sz="1150" dirty="0"/>
          </a:p>
        </p:txBody>
      </p:sp>
      <p:sp>
        <p:nvSpPr>
          <p:cNvPr id="16" name="Text 14"/>
          <p:cNvSpPr/>
          <p:nvPr/>
        </p:nvSpPr>
        <p:spPr>
          <a:xfrm>
            <a:off x="1248370" y="5237202"/>
            <a:ext cx="5904905" cy="199073"/>
          </a:xfrm>
          <a:prstGeom prst="rect">
            <a:avLst/>
          </a:prstGeom>
          <a:noFill/>
          <a:ln/>
        </p:spPr>
        <p:txBody>
          <a:bodyPr wrap="none" lIns="0" tIns="0" rIns="0" bIns="0" rtlCol="0" anchor="t"/>
          <a:lstStyle/>
          <a:p>
            <a:pPr marL="0" indent="0" algn="l">
              <a:lnSpc>
                <a:spcPts val="1550"/>
              </a:lnSpc>
              <a:buNone/>
            </a:pPr>
            <a:r>
              <a:rPr lang="en-US" sz="1000" dirty="0">
                <a:solidFill>
                  <a:srgbClr val="3D3838"/>
                </a:solidFill>
                <a:latin typeface="Source Sans 3" pitchFamily="34" charset="0"/>
                <a:ea typeface="Source Sans 3" pitchFamily="34" charset="-122"/>
                <a:cs typeface="Source Sans 3" pitchFamily="34" charset="-120"/>
              </a:rPr>
              <a:t>APIs documentées automatiquement avec OpenAPI/Swagger</a:t>
            </a:r>
            <a:endParaRPr lang="en-US" sz="1000" dirty="0"/>
          </a:p>
        </p:txBody>
      </p:sp>
      <p:sp>
        <p:nvSpPr>
          <p:cNvPr id="17" name="Text 15"/>
          <p:cNvSpPr/>
          <p:nvPr/>
        </p:nvSpPr>
        <p:spPr>
          <a:xfrm>
            <a:off x="7484745" y="1270516"/>
            <a:ext cx="1810345" cy="226338"/>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Montserrat Bold" pitchFamily="34" charset="0"/>
                <a:ea typeface="Montserrat Bold" pitchFamily="34" charset="-122"/>
                <a:cs typeface="Montserrat Bold" pitchFamily="34" charset="-120"/>
              </a:rPr>
              <a:t>Évolutions Futures</a:t>
            </a:r>
            <a:endParaRPr lang="en-US" sz="1400" dirty="0"/>
          </a:p>
        </p:txBody>
      </p:sp>
      <p:sp>
        <p:nvSpPr>
          <p:cNvPr id="18" name="Shape 16"/>
          <p:cNvSpPr/>
          <p:nvPr/>
        </p:nvSpPr>
        <p:spPr>
          <a:xfrm>
            <a:off x="7484745" y="1646158"/>
            <a:ext cx="6336268" cy="816293"/>
          </a:xfrm>
          <a:prstGeom prst="roundRect">
            <a:avLst>
              <a:gd name="adj" fmla="val 8961"/>
            </a:avLst>
          </a:prstGeom>
          <a:solidFill>
            <a:srgbClr val="FFFFFF"/>
          </a:solidFill>
          <a:ln w="15240">
            <a:solidFill>
              <a:srgbClr val="D8D4D4"/>
            </a:solidFill>
            <a:prstDash val="solid"/>
          </a:ln>
        </p:spPr>
        <p:txBody>
          <a:bodyPr/>
          <a:lstStyle/>
          <a:p>
            <a:endParaRPr lang="fr-FR"/>
          </a:p>
        </p:txBody>
      </p:sp>
      <p:sp>
        <p:nvSpPr>
          <p:cNvPr id="19" name="Shape 17"/>
          <p:cNvSpPr/>
          <p:nvPr/>
        </p:nvSpPr>
        <p:spPr>
          <a:xfrm>
            <a:off x="7469505" y="1646158"/>
            <a:ext cx="60960" cy="816293"/>
          </a:xfrm>
          <a:prstGeom prst="roundRect">
            <a:avLst>
              <a:gd name="adj" fmla="val 32668"/>
            </a:avLst>
          </a:prstGeom>
          <a:solidFill>
            <a:srgbClr val="2D2E34"/>
          </a:solidFill>
          <a:ln/>
        </p:spPr>
        <p:txBody>
          <a:bodyPr/>
          <a:lstStyle/>
          <a:p>
            <a:endParaRPr lang="fr-FR"/>
          </a:p>
        </p:txBody>
      </p:sp>
      <p:sp>
        <p:nvSpPr>
          <p:cNvPr id="20" name="Text 18"/>
          <p:cNvSpPr/>
          <p:nvPr/>
        </p:nvSpPr>
        <p:spPr>
          <a:xfrm>
            <a:off x="7678460" y="1794153"/>
            <a:ext cx="1508641" cy="188476"/>
          </a:xfrm>
          <a:prstGeom prst="rect">
            <a:avLst/>
          </a:prstGeom>
          <a:noFill/>
          <a:ln/>
        </p:spPr>
        <p:txBody>
          <a:bodyPr wrap="none" lIns="0" tIns="0" rIns="0" bIns="0" rtlCol="0" anchor="t"/>
          <a:lstStyle/>
          <a:p>
            <a:pPr marL="0" indent="0" algn="l">
              <a:lnSpc>
                <a:spcPts val="1450"/>
              </a:lnSpc>
              <a:buNone/>
            </a:pPr>
            <a:r>
              <a:rPr lang="en-US" sz="1150" b="1" dirty="0">
                <a:solidFill>
                  <a:srgbClr val="3D3838"/>
                </a:solidFill>
                <a:latin typeface="Montserrat Bold" pitchFamily="34" charset="0"/>
                <a:ea typeface="Montserrat Bold" pitchFamily="34" charset="-122"/>
                <a:cs typeface="Montserrat Bold" pitchFamily="34" charset="-120"/>
              </a:rPr>
              <a:t>Sécurité</a:t>
            </a:r>
            <a:endParaRPr lang="en-US" sz="1150" dirty="0"/>
          </a:p>
        </p:txBody>
      </p:sp>
      <p:sp>
        <p:nvSpPr>
          <p:cNvPr id="21" name="Text 19"/>
          <p:cNvSpPr/>
          <p:nvPr/>
        </p:nvSpPr>
        <p:spPr>
          <a:xfrm>
            <a:off x="7678460" y="2115383"/>
            <a:ext cx="5994559" cy="199073"/>
          </a:xfrm>
          <a:prstGeom prst="rect">
            <a:avLst/>
          </a:prstGeom>
          <a:noFill/>
          <a:ln/>
        </p:spPr>
        <p:txBody>
          <a:bodyPr wrap="none" lIns="0" tIns="0" rIns="0" bIns="0" rtlCol="0" anchor="t"/>
          <a:lstStyle/>
          <a:p>
            <a:pPr marL="0" indent="0" algn="l">
              <a:lnSpc>
                <a:spcPts val="1550"/>
              </a:lnSpc>
              <a:buNone/>
            </a:pPr>
            <a:r>
              <a:rPr lang="en-US" sz="1000" dirty="0">
                <a:solidFill>
                  <a:srgbClr val="3D3838"/>
                </a:solidFill>
                <a:latin typeface="Source Sans 3" pitchFamily="34" charset="0"/>
                <a:ea typeface="Source Sans 3" pitchFamily="34" charset="-122"/>
                <a:cs typeface="Source Sans 3" pitchFamily="34" charset="-120"/>
              </a:rPr>
              <a:t>Implémenter OAuth2/JWT avec Keycloak pour authentification et autorisation</a:t>
            </a:r>
            <a:endParaRPr lang="en-US" sz="1000" dirty="0"/>
          </a:p>
        </p:txBody>
      </p:sp>
      <p:sp>
        <p:nvSpPr>
          <p:cNvPr id="22" name="Shape 20"/>
          <p:cNvSpPr/>
          <p:nvPr/>
        </p:nvSpPr>
        <p:spPr>
          <a:xfrm>
            <a:off x="7484745" y="2595205"/>
            <a:ext cx="6336268" cy="816293"/>
          </a:xfrm>
          <a:prstGeom prst="roundRect">
            <a:avLst>
              <a:gd name="adj" fmla="val 8961"/>
            </a:avLst>
          </a:prstGeom>
          <a:solidFill>
            <a:srgbClr val="FFFFFF"/>
          </a:solidFill>
          <a:ln w="15240">
            <a:solidFill>
              <a:srgbClr val="D8D4D4"/>
            </a:solidFill>
            <a:prstDash val="solid"/>
          </a:ln>
        </p:spPr>
        <p:txBody>
          <a:bodyPr/>
          <a:lstStyle/>
          <a:p>
            <a:endParaRPr lang="fr-FR"/>
          </a:p>
        </p:txBody>
      </p:sp>
      <p:sp>
        <p:nvSpPr>
          <p:cNvPr id="23" name="Shape 21"/>
          <p:cNvSpPr/>
          <p:nvPr/>
        </p:nvSpPr>
        <p:spPr>
          <a:xfrm>
            <a:off x="7469505" y="2595205"/>
            <a:ext cx="60960" cy="816293"/>
          </a:xfrm>
          <a:prstGeom prst="roundRect">
            <a:avLst>
              <a:gd name="adj" fmla="val 32668"/>
            </a:avLst>
          </a:prstGeom>
          <a:solidFill>
            <a:srgbClr val="2D2E34"/>
          </a:solidFill>
          <a:ln/>
        </p:spPr>
        <p:txBody>
          <a:bodyPr/>
          <a:lstStyle/>
          <a:p>
            <a:endParaRPr lang="fr-FR"/>
          </a:p>
        </p:txBody>
      </p:sp>
      <p:sp>
        <p:nvSpPr>
          <p:cNvPr id="24" name="Text 22"/>
          <p:cNvSpPr/>
          <p:nvPr/>
        </p:nvSpPr>
        <p:spPr>
          <a:xfrm>
            <a:off x="7678460" y="2743200"/>
            <a:ext cx="1508641" cy="188476"/>
          </a:xfrm>
          <a:prstGeom prst="rect">
            <a:avLst/>
          </a:prstGeom>
          <a:noFill/>
          <a:ln/>
        </p:spPr>
        <p:txBody>
          <a:bodyPr wrap="none" lIns="0" tIns="0" rIns="0" bIns="0" rtlCol="0" anchor="t"/>
          <a:lstStyle/>
          <a:p>
            <a:pPr marL="0" indent="0" algn="l">
              <a:lnSpc>
                <a:spcPts val="1450"/>
              </a:lnSpc>
              <a:buNone/>
            </a:pPr>
            <a:r>
              <a:rPr lang="en-US" sz="1150" b="1" dirty="0">
                <a:solidFill>
                  <a:srgbClr val="3D3838"/>
                </a:solidFill>
                <a:latin typeface="Montserrat Bold" pitchFamily="34" charset="0"/>
                <a:ea typeface="Montserrat Bold" pitchFamily="34" charset="-122"/>
                <a:cs typeface="Montserrat Bold" pitchFamily="34" charset="-120"/>
              </a:rPr>
              <a:t>Monitoring</a:t>
            </a:r>
            <a:endParaRPr lang="en-US" sz="1150" dirty="0"/>
          </a:p>
        </p:txBody>
      </p:sp>
      <p:sp>
        <p:nvSpPr>
          <p:cNvPr id="25" name="Text 23"/>
          <p:cNvSpPr/>
          <p:nvPr/>
        </p:nvSpPr>
        <p:spPr>
          <a:xfrm>
            <a:off x="7678460" y="3064431"/>
            <a:ext cx="5994559" cy="199073"/>
          </a:xfrm>
          <a:prstGeom prst="rect">
            <a:avLst/>
          </a:prstGeom>
          <a:noFill/>
          <a:ln/>
        </p:spPr>
        <p:txBody>
          <a:bodyPr wrap="none" lIns="0" tIns="0" rIns="0" bIns="0" rtlCol="0" anchor="t"/>
          <a:lstStyle/>
          <a:p>
            <a:pPr marL="0" indent="0" algn="l">
              <a:lnSpc>
                <a:spcPts val="1550"/>
              </a:lnSpc>
              <a:buNone/>
            </a:pPr>
            <a:r>
              <a:rPr lang="en-US" sz="1000" dirty="0">
                <a:solidFill>
                  <a:srgbClr val="3D3838"/>
                </a:solidFill>
                <a:latin typeface="Source Sans 3" pitchFamily="34" charset="0"/>
                <a:ea typeface="Source Sans 3" pitchFamily="34" charset="-122"/>
                <a:cs typeface="Source Sans 3" pitchFamily="34" charset="-120"/>
              </a:rPr>
              <a:t>Ajouter Prometheus et Grafana pour supervision temps réel</a:t>
            </a:r>
            <a:endParaRPr lang="en-US" sz="1000" dirty="0"/>
          </a:p>
        </p:txBody>
      </p:sp>
      <p:sp>
        <p:nvSpPr>
          <p:cNvPr id="26" name="Shape 24"/>
          <p:cNvSpPr/>
          <p:nvPr/>
        </p:nvSpPr>
        <p:spPr>
          <a:xfrm>
            <a:off x="7484745" y="3544252"/>
            <a:ext cx="6336268" cy="816293"/>
          </a:xfrm>
          <a:prstGeom prst="roundRect">
            <a:avLst>
              <a:gd name="adj" fmla="val 8961"/>
            </a:avLst>
          </a:prstGeom>
          <a:solidFill>
            <a:srgbClr val="FFFFFF"/>
          </a:solidFill>
          <a:ln w="15240">
            <a:solidFill>
              <a:srgbClr val="D8D4D4"/>
            </a:solidFill>
            <a:prstDash val="solid"/>
          </a:ln>
        </p:spPr>
        <p:txBody>
          <a:bodyPr/>
          <a:lstStyle/>
          <a:p>
            <a:endParaRPr lang="fr-FR"/>
          </a:p>
        </p:txBody>
      </p:sp>
      <p:sp>
        <p:nvSpPr>
          <p:cNvPr id="27" name="Shape 25"/>
          <p:cNvSpPr/>
          <p:nvPr/>
        </p:nvSpPr>
        <p:spPr>
          <a:xfrm>
            <a:off x="7469505" y="3544252"/>
            <a:ext cx="60960" cy="816293"/>
          </a:xfrm>
          <a:prstGeom prst="roundRect">
            <a:avLst>
              <a:gd name="adj" fmla="val 32668"/>
            </a:avLst>
          </a:prstGeom>
          <a:solidFill>
            <a:srgbClr val="2D2E34"/>
          </a:solidFill>
          <a:ln/>
        </p:spPr>
        <p:txBody>
          <a:bodyPr/>
          <a:lstStyle/>
          <a:p>
            <a:endParaRPr lang="fr-FR"/>
          </a:p>
        </p:txBody>
      </p:sp>
      <p:sp>
        <p:nvSpPr>
          <p:cNvPr id="28" name="Text 26"/>
          <p:cNvSpPr/>
          <p:nvPr/>
        </p:nvSpPr>
        <p:spPr>
          <a:xfrm>
            <a:off x="7678460" y="3692247"/>
            <a:ext cx="1508641" cy="188476"/>
          </a:xfrm>
          <a:prstGeom prst="rect">
            <a:avLst/>
          </a:prstGeom>
          <a:noFill/>
          <a:ln/>
        </p:spPr>
        <p:txBody>
          <a:bodyPr wrap="none" lIns="0" tIns="0" rIns="0" bIns="0" rtlCol="0" anchor="t"/>
          <a:lstStyle/>
          <a:p>
            <a:pPr marL="0" indent="0" algn="l">
              <a:lnSpc>
                <a:spcPts val="1450"/>
              </a:lnSpc>
              <a:buNone/>
            </a:pPr>
            <a:r>
              <a:rPr lang="en-US" sz="1150" b="1" dirty="0">
                <a:solidFill>
                  <a:srgbClr val="3D3838"/>
                </a:solidFill>
                <a:latin typeface="Montserrat Bold" pitchFamily="34" charset="0"/>
                <a:ea typeface="Montserrat Bold" pitchFamily="34" charset="-122"/>
                <a:cs typeface="Montserrat Bold" pitchFamily="34" charset="-120"/>
              </a:rPr>
              <a:t>Logging distribué</a:t>
            </a:r>
            <a:endParaRPr lang="en-US" sz="1150" dirty="0"/>
          </a:p>
        </p:txBody>
      </p:sp>
      <p:sp>
        <p:nvSpPr>
          <p:cNvPr id="29" name="Text 27"/>
          <p:cNvSpPr/>
          <p:nvPr/>
        </p:nvSpPr>
        <p:spPr>
          <a:xfrm>
            <a:off x="7678460" y="4013478"/>
            <a:ext cx="5994559" cy="199073"/>
          </a:xfrm>
          <a:prstGeom prst="rect">
            <a:avLst/>
          </a:prstGeom>
          <a:noFill/>
          <a:ln/>
        </p:spPr>
        <p:txBody>
          <a:bodyPr wrap="none" lIns="0" tIns="0" rIns="0" bIns="0" rtlCol="0" anchor="t"/>
          <a:lstStyle/>
          <a:p>
            <a:pPr marL="0" indent="0" algn="l">
              <a:lnSpc>
                <a:spcPts val="1550"/>
              </a:lnSpc>
              <a:buNone/>
            </a:pPr>
            <a:r>
              <a:rPr lang="en-US" sz="1000" dirty="0">
                <a:solidFill>
                  <a:srgbClr val="3D3838"/>
                </a:solidFill>
                <a:latin typeface="Source Sans 3" pitchFamily="34" charset="0"/>
                <a:ea typeface="Source Sans 3" pitchFamily="34" charset="-122"/>
                <a:cs typeface="Source Sans 3" pitchFamily="34" charset="-120"/>
              </a:rPr>
              <a:t>Implémenter ELK Stack pour centralisation des logs</a:t>
            </a:r>
            <a:endParaRPr lang="en-US" sz="1000" dirty="0"/>
          </a:p>
        </p:txBody>
      </p:sp>
      <p:sp>
        <p:nvSpPr>
          <p:cNvPr id="30" name="Shape 28"/>
          <p:cNvSpPr/>
          <p:nvPr/>
        </p:nvSpPr>
        <p:spPr>
          <a:xfrm>
            <a:off x="7484745" y="4493300"/>
            <a:ext cx="6336268" cy="816293"/>
          </a:xfrm>
          <a:prstGeom prst="roundRect">
            <a:avLst>
              <a:gd name="adj" fmla="val 8961"/>
            </a:avLst>
          </a:prstGeom>
          <a:solidFill>
            <a:srgbClr val="FFFFFF"/>
          </a:solidFill>
          <a:ln w="15240">
            <a:solidFill>
              <a:srgbClr val="D8D4D4"/>
            </a:solidFill>
            <a:prstDash val="solid"/>
          </a:ln>
        </p:spPr>
        <p:txBody>
          <a:bodyPr/>
          <a:lstStyle/>
          <a:p>
            <a:endParaRPr lang="fr-FR"/>
          </a:p>
        </p:txBody>
      </p:sp>
      <p:sp>
        <p:nvSpPr>
          <p:cNvPr id="31" name="Shape 29"/>
          <p:cNvSpPr/>
          <p:nvPr/>
        </p:nvSpPr>
        <p:spPr>
          <a:xfrm>
            <a:off x="7469505" y="4493300"/>
            <a:ext cx="60960" cy="816293"/>
          </a:xfrm>
          <a:prstGeom prst="roundRect">
            <a:avLst>
              <a:gd name="adj" fmla="val 32668"/>
            </a:avLst>
          </a:prstGeom>
          <a:solidFill>
            <a:srgbClr val="2D2E34"/>
          </a:solidFill>
          <a:ln/>
        </p:spPr>
        <p:txBody>
          <a:bodyPr/>
          <a:lstStyle/>
          <a:p>
            <a:endParaRPr lang="fr-FR"/>
          </a:p>
        </p:txBody>
      </p:sp>
      <p:sp>
        <p:nvSpPr>
          <p:cNvPr id="32" name="Text 30"/>
          <p:cNvSpPr/>
          <p:nvPr/>
        </p:nvSpPr>
        <p:spPr>
          <a:xfrm>
            <a:off x="7678460" y="4641294"/>
            <a:ext cx="1508641" cy="188476"/>
          </a:xfrm>
          <a:prstGeom prst="rect">
            <a:avLst/>
          </a:prstGeom>
          <a:noFill/>
          <a:ln/>
        </p:spPr>
        <p:txBody>
          <a:bodyPr wrap="none" lIns="0" tIns="0" rIns="0" bIns="0" rtlCol="0" anchor="t"/>
          <a:lstStyle/>
          <a:p>
            <a:pPr marL="0" indent="0" algn="l">
              <a:lnSpc>
                <a:spcPts val="1450"/>
              </a:lnSpc>
              <a:buNone/>
            </a:pPr>
            <a:r>
              <a:rPr lang="en-US" sz="1150" b="1" dirty="0">
                <a:solidFill>
                  <a:srgbClr val="3D3838"/>
                </a:solidFill>
                <a:latin typeface="Montserrat Bold" pitchFamily="34" charset="0"/>
                <a:ea typeface="Montserrat Bold" pitchFamily="34" charset="-122"/>
                <a:cs typeface="Montserrat Bold" pitchFamily="34" charset="-120"/>
              </a:rPr>
              <a:t>CI/CD</a:t>
            </a:r>
            <a:endParaRPr lang="en-US" sz="1150" dirty="0"/>
          </a:p>
        </p:txBody>
      </p:sp>
      <p:sp>
        <p:nvSpPr>
          <p:cNvPr id="33" name="Text 31"/>
          <p:cNvSpPr/>
          <p:nvPr/>
        </p:nvSpPr>
        <p:spPr>
          <a:xfrm>
            <a:off x="7678460" y="4962525"/>
            <a:ext cx="5994559" cy="199073"/>
          </a:xfrm>
          <a:prstGeom prst="rect">
            <a:avLst/>
          </a:prstGeom>
          <a:noFill/>
          <a:ln/>
        </p:spPr>
        <p:txBody>
          <a:bodyPr wrap="none" lIns="0" tIns="0" rIns="0" bIns="0" rtlCol="0" anchor="t"/>
          <a:lstStyle/>
          <a:p>
            <a:pPr marL="0" indent="0" algn="l">
              <a:lnSpc>
                <a:spcPts val="1550"/>
              </a:lnSpc>
              <a:buNone/>
            </a:pPr>
            <a:r>
              <a:rPr lang="en-US" sz="1000" dirty="0">
                <a:solidFill>
                  <a:srgbClr val="3D3838"/>
                </a:solidFill>
                <a:latin typeface="Source Sans 3" pitchFamily="34" charset="0"/>
                <a:ea typeface="Source Sans 3" pitchFamily="34" charset="-122"/>
                <a:cs typeface="Source Sans 3" pitchFamily="34" charset="-120"/>
              </a:rPr>
              <a:t>Automatiser le déploiement avec Jenkins ou GitHub Actions</a:t>
            </a:r>
            <a:endParaRPr lang="en-US" sz="1000" dirty="0"/>
          </a:p>
        </p:txBody>
      </p:sp>
      <p:sp>
        <p:nvSpPr>
          <p:cNvPr id="34" name="Shape 32"/>
          <p:cNvSpPr/>
          <p:nvPr/>
        </p:nvSpPr>
        <p:spPr>
          <a:xfrm>
            <a:off x="7484745" y="5442347"/>
            <a:ext cx="6336268" cy="816293"/>
          </a:xfrm>
          <a:prstGeom prst="roundRect">
            <a:avLst>
              <a:gd name="adj" fmla="val 8961"/>
            </a:avLst>
          </a:prstGeom>
          <a:solidFill>
            <a:srgbClr val="FFFFFF"/>
          </a:solidFill>
          <a:ln w="15240">
            <a:solidFill>
              <a:srgbClr val="D8D4D4"/>
            </a:solidFill>
            <a:prstDash val="solid"/>
          </a:ln>
        </p:spPr>
        <p:txBody>
          <a:bodyPr/>
          <a:lstStyle/>
          <a:p>
            <a:endParaRPr lang="fr-FR"/>
          </a:p>
        </p:txBody>
      </p:sp>
      <p:sp>
        <p:nvSpPr>
          <p:cNvPr id="35" name="Shape 33"/>
          <p:cNvSpPr/>
          <p:nvPr/>
        </p:nvSpPr>
        <p:spPr>
          <a:xfrm>
            <a:off x="7469505" y="5442347"/>
            <a:ext cx="60960" cy="816293"/>
          </a:xfrm>
          <a:prstGeom prst="roundRect">
            <a:avLst>
              <a:gd name="adj" fmla="val 32668"/>
            </a:avLst>
          </a:prstGeom>
          <a:solidFill>
            <a:srgbClr val="2D2E34"/>
          </a:solidFill>
          <a:ln/>
        </p:spPr>
        <p:txBody>
          <a:bodyPr/>
          <a:lstStyle/>
          <a:p>
            <a:endParaRPr lang="fr-FR"/>
          </a:p>
        </p:txBody>
      </p:sp>
      <p:sp>
        <p:nvSpPr>
          <p:cNvPr id="36" name="Text 34"/>
          <p:cNvSpPr/>
          <p:nvPr/>
        </p:nvSpPr>
        <p:spPr>
          <a:xfrm>
            <a:off x="7678460" y="5590342"/>
            <a:ext cx="1508641" cy="188476"/>
          </a:xfrm>
          <a:prstGeom prst="rect">
            <a:avLst/>
          </a:prstGeom>
          <a:noFill/>
          <a:ln/>
        </p:spPr>
        <p:txBody>
          <a:bodyPr wrap="none" lIns="0" tIns="0" rIns="0" bIns="0" rtlCol="0" anchor="t"/>
          <a:lstStyle/>
          <a:p>
            <a:pPr marL="0" indent="0" algn="l">
              <a:lnSpc>
                <a:spcPts val="1450"/>
              </a:lnSpc>
              <a:buNone/>
            </a:pPr>
            <a:r>
              <a:rPr lang="en-US" sz="1150" b="1" dirty="0">
                <a:solidFill>
                  <a:srgbClr val="3D3838"/>
                </a:solidFill>
                <a:latin typeface="Montserrat Bold" pitchFamily="34" charset="0"/>
                <a:ea typeface="Montserrat Bold" pitchFamily="34" charset="-122"/>
                <a:cs typeface="Montserrat Bold" pitchFamily="34" charset="-120"/>
              </a:rPr>
              <a:t>Conteneurisation</a:t>
            </a:r>
            <a:endParaRPr lang="en-US" sz="1150" dirty="0"/>
          </a:p>
        </p:txBody>
      </p:sp>
      <p:sp>
        <p:nvSpPr>
          <p:cNvPr id="37" name="Text 35"/>
          <p:cNvSpPr/>
          <p:nvPr/>
        </p:nvSpPr>
        <p:spPr>
          <a:xfrm>
            <a:off x="7678460" y="5911572"/>
            <a:ext cx="5994559" cy="199073"/>
          </a:xfrm>
          <a:prstGeom prst="rect">
            <a:avLst/>
          </a:prstGeom>
          <a:noFill/>
          <a:ln/>
        </p:spPr>
        <p:txBody>
          <a:bodyPr wrap="none" lIns="0" tIns="0" rIns="0" bIns="0" rtlCol="0" anchor="t"/>
          <a:lstStyle/>
          <a:p>
            <a:pPr marL="0" indent="0" algn="l">
              <a:lnSpc>
                <a:spcPts val="1550"/>
              </a:lnSpc>
              <a:buNone/>
            </a:pPr>
            <a:r>
              <a:rPr lang="en-US" sz="1000" dirty="0">
                <a:solidFill>
                  <a:srgbClr val="3D3838"/>
                </a:solidFill>
                <a:latin typeface="Source Sans 3" pitchFamily="34" charset="0"/>
                <a:ea typeface="Source Sans 3" pitchFamily="34" charset="-122"/>
                <a:cs typeface="Source Sans 3" pitchFamily="34" charset="-120"/>
              </a:rPr>
              <a:t>Docker et orchestration Kubernetes pour déploiement cloud</a:t>
            </a:r>
            <a:endParaRPr lang="en-US" sz="1000" dirty="0"/>
          </a:p>
        </p:txBody>
      </p:sp>
      <p:sp>
        <p:nvSpPr>
          <p:cNvPr id="38" name="Shape 36"/>
          <p:cNvSpPr/>
          <p:nvPr/>
        </p:nvSpPr>
        <p:spPr>
          <a:xfrm>
            <a:off x="7484745" y="6391394"/>
            <a:ext cx="6336268" cy="816293"/>
          </a:xfrm>
          <a:prstGeom prst="roundRect">
            <a:avLst>
              <a:gd name="adj" fmla="val 8961"/>
            </a:avLst>
          </a:prstGeom>
          <a:solidFill>
            <a:srgbClr val="FFFFFF"/>
          </a:solidFill>
          <a:ln w="15240">
            <a:solidFill>
              <a:srgbClr val="D8D4D4"/>
            </a:solidFill>
            <a:prstDash val="solid"/>
          </a:ln>
        </p:spPr>
        <p:txBody>
          <a:bodyPr/>
          <a:lstStyle/>
          <a:p>
            <a:endParaRPr lang="fr-FR"/>
          </a:p>
        </p:txBody>
      </p:sp>
      <p:sp>
        <p:nvSpPr>
          <p:cNvPr id="39" name="Shape 37"/>
          <p:cNvSpPr/>
          <p:nvPr/>
        </p:nvSpPr>
        <p:spPr>
          <a:xfrm>
            <a:off x="7469505" y="6391394"/>
            <a:ext cx="60960" cy="816293"/>
          </a:xfrm>
          <a:prstGeom prst="roundRect">
            <a:avLst>
              <a:gd name="adj" fmla="val 32668"/>
            </a:avLst>
          </a:prstGeom>
          <a:solidFill>
            <a:srgbClr val="2D2E34"/>
          </a:solidFill>
          <a:ln/>
        </p:spPr>
        <p:txBody>
          <a:bodyPr/>
          <a:lstStyle/>
          <a:p>
            <a:endParaRPr lang="fr-FR"/>
          </a:p>
        </p:txBody>
      </p:sp>
      <p:sp>
        <p:nvSpPr>
          <p:cNvPr id="40" name="Text 38"/>
          <p:cNvSpPr/>
          <p:nvPr/>
        </p:nvSpPr>
        <p:spPr>
          <a:xfrm>
            <a:off x="7678460" y="6539389"/>
            <a:ext cx="1863685" cy="188476"/>
          </a:xfrm>
          <a:prstGeom prst="rect">
            <a:avLst/>
          </a:prstGeom>
          <a:noFill/>
          <a:ln/>
        </p:spPr>
        <p:txBody>
          <a:bodyPr wrap="none" lIns="0" tIns="0" rIns="0" bIns="0" rtlCol="0" anchor="t"/>
          <a:lstStyle/>
          <a:p>
            <a:pPr marL="0" indent="0" algn="l">
              <a:lnSpc>
                <a:spcPts val="1450"/>
              </a:lnSpc>
              <a:buNone/>
            </a:pPr>
            <a:r>
              <a:rPr lang="en-US" sz="1150" b="1" dirty="0">
                <a:solidFill>
                  <a:srgbClr val="3D3838"/>
                </a:solidFill>
                <a:latin typeface="Montserrat Bold" pitchFamily="34" charset="0"/>
                <a:ea typeface="Montserrat Bold" pitchFamily="34" charset="-122"/>
                <a:cs typeface="Montserrat Bold" pitchFamily="34" charset="-120"/>
              </a:rPr>
              <a:t>Messagerie asynchrone</a:t>
            </a:r>
            <a:endParaRPr lang="en-US" sz="1150" dirty="0"/>
          </a:p>
        </p:txBody>
      </p:sp>
      <p:sp>
        <p:nvSpPr>
          <p:cNvPr id="41" name="Text 39"/>
          <p:cNvSpPr/>
          <p:nvPr/>
        </p:nvSpPr>
        <p:spPr>
          <a:xfrm>
            <a:off x="7678460" y="6860619"/>
            <a:ext cx="5994559" cy="199073"/>
          </a:xfrm>
          <a:prstGeom prst="rect">
            <a:avLst/>
          </a:prstGeom>
          <a:noFill/>
          <a:ln/>
        </p:spPr>
        <p:txBody>
          <a:bodyPr wrap="none" lIns="0" tIns="0" rIns="0" bIns="0" rtlCol="0" anchor="t"/>
          <a:lstStyle/>
          <a:p>
            <a:pPr marL="0" indent="0" algn="l">
              <a:lnSpc>
                <a:spcPts val="1550"/>
              </a:lnSpc>
              <a:buNone/>
            </a:pPr>
            <a:r>
              <a:rPr lang="en-US" sz="1000" dirty="0">
                <a:solidFill>
                  <a:srgbClr val="3D3838"/>
                </a:solidFill>
                <a:latin typeface="Source Sans 3" pitchFamily="34" charset="0"/>
                <a:ea typeface="Source Sans 3" pitchFamily="34" charset="-122"/>
                <a:cs typeface="Source Sans 3" pitchFamily="34" charset="-120"/>
              </a:rPr>
              <a:t>Intégrer RabbitMQ ou Kafka pour communication événementielle</a:t>
            </a:r>
            <a:endParaRPr lang="en-US" sz="1000" dirty="0"/>
          </a:p>
        </p:txBody>
      </p:sp>
      <p:sp>
        <p:nvSpPr>
          <p:cNvPr id="42" name="Text 40"/>
          <p:cNvSpPr/>
          <p:nvPr/>
        </p:nvSpPr>
        <p:spPr>
          <a:xfrm>
            <a:off x="7484745" y="7356991"/>
            <a:ext cx="6336268" cy="199073"/>
          </a:xfrm>
          <a:prstGeom prst="rect">
            <a:avLst/>
          </a:prstGeom>
          <a:noFill/>
          <a:ln/>
        </p:spPr>
        <p:txBody>
          <a:bodyPr wrap="none" lIns="0" tIns="0" rIns="0" bIns="0" rtlCol="0" anchor="t"/>
          <a:lstStyle/>
          <a:p>
            <a:pPr marL="0" indent="0" algn="l">
              <a:lnSpc>
                <a:spcPts val="1550"/>
              </a:lnSpc>
              <a:buNone/>
            </a:pPr>
            <a:r>
              <a:rPr lang="en-US" sz="1000" b="1" dirty="0">
                <a:solidFill>
                  <a:srgbClr val="3D3838"/>
                </a:solidFill>
                <a:latin typeface="Source Sans 3" pitchFamily="34" charset="0"/>
                <a:ea typeface="Source Sans 3" pitchFamily="34" charset="-122"/>
                <a:cs typeface="Source Sans 3" pitchFamily="34" charset="-120"/>
              </a:rPr>
              <a:t>Contact :</a:t>
            </a:r>
            <a:r>
              <a:rPr lang="en-US" sz="1000" dirty="0">
                <a:solidFill>
                  <a:srgbClr val="3D3838"/>
                </a:solidFill>
                <a:latin typeface="Source Sans 3" pitchFamily="34" charset="0"/>
                <a:ea typeface="Source Sans 3" pitchFamily="34" charset="-122"/>
                <a:cs typeface="Source Sans 3" pitchFamily="34" charset="-120"/>
              </a:rPr>
              <a:t> Mohammed EL KHAYATI • Mouad MOUDID • Année universitaire 2025-2026</a:t>
            </a:r>
            <a:endParaRPr lang="en-US" sz="1000" dirty="0"/>
          </a:p>
        </p:txBody>
      </p:sp>
      <p:sp>
        <p:nvSpPr>
          <p:cNvPr id="43" name="ZoneTexte 42">
            <a:extLst>
              <a:ext uri="{FF2B5EF4-FFF2-40B4-BE49-F238E27FC236}">
                <a16:creationId xmlns:a16="http://schemas.microsoft.com/office/drawing/2014/main" id="{E47273B7-039D-B240-B827-BD4B1B1BC64C}"/>
              </a:ext>
            </a:extLst>
          </p:cNvPr>
          <p:cNvSpPr txBox="1"/>
          <p:nvPr/>
        </p:nvSpPr>
        <p:spPr>
          <a:xfrm>
            <a:off x="12804564" y="7714034"/>
            <a:ext cx="1825836" cy="515566"/>
          </a:xfrm>
          <a:prstGeom prst="rect">
            <a:avLst/>
          </a:prstGeom>
          <a:solidFill>
            <a:schemeClr val="bg1"/>
          </a:solidFill>
          <a:ln>
            <a:solidFill>
              <a:schemeClr val="bg1"/>
            </a:solidFill>
          </a:ln>
        </p:spPr>
        <p:txBody>
          <a:bodyPr wrap="square" rtlCol="0">
            <a:spAutoFit/>
          </a:bodyPr>
          <a:lstStyle/>
          <a:p>
            <a:endParaRPr lang="fr-FR" dirty="0"/>
          </a:p>
        </p:txBody>
      </p:sp>
      <p:sp>
        <p:nvSpPr>
          <p:cNvPr id="44" name="ZoneTexte 43">
            <a:extLst>
              <a:ext uri="{FF2B5EF4-FFF2-40B4-BE49-F238E27FC236}">
                <a16:creationId xmlns:a16="http://schemas.microsoft.com/office/drawing/2014/main" id="{CA82EC28-CAE3-AEAF-CEC2-111D2B7B772C}"/>
              </a:ext>
            </a:extLst>
          </p:cNvPr>
          <p:cNvSpPr txBox="1"/>
          <p:nvPr/>
        </p:nvSpPr>
        <p:spPr>
          <a:xfrm>
            <a:off x="13861915" y="7714034"/>
            <a:ext cx="573932" cy="369332"/>
          </a:xfrm>
          <a:prstGeom prst="rect">
            <a:avLst/>
          </a:prstGeom>
          <a:noFill/>
        </p:spPr>
        <p:txBody>
          <a:bodyPr wrap="square" rtlCol="0">
            <a:spAutoFit/>
          </a:bodyPr>
          <a:lstStyle/>
          <a:p>
            <a:r>
              <a:rPr lang="fr-FR"/>
              <a:t>  10</a:t>
            </a:r>
            <a:endParaRPr lang="fr-F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938</Words>
  <Application>Microsoft Office PowerPoint</Application>
  <PresentationFormat>Personnalisé</PresentationFormat>
  <Paragraphs>142</Paragraphs>
  <Slides>10</Slides>
  <Notes>10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10</vt:i4>
      </vt:variant>
    </vt:vector>
  </HeadingPairs>
  <TitlesOfParts>
    <vt:vector size="15" baseType="lpstr">
      <vt:lpstr>Source Sans 3</vt:lpstr>
      <vt:lpstr>Arial</vt:lpstr>
      <vt:lpstr>Montserrat Light</vt:lpstr>
      <vt:lpstr>Montserrat Bold</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Mohammed Elkhayati</cp:lastModifiedBy>
  <cp:revision>4</cp:revision>
  <dcterms:created xsi:type="dcterms:W3CDTF">2025-12-22T14:09:40Z</dcterms:created>
  <dcterms:modified xsi:type="dcterms:W3CDTF">2025-12-22T14:49:02Z</dcterms:modified>
</cp:coreProperties>
</file>